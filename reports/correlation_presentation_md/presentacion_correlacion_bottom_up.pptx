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2EBAB1A-A9AC-A6F4-8835-292F84EE8DF2}" name="Eydan Vladimir Peña Ulloa" initials="EP" userId="S::A00837432@tec.mx::15de9948-6185-45da-a345-9606ce3f580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DAE0"/>
    <a:srgbClr val="CCD1D9"/>
    <a:srgbClr val="FDFFFF"/>
    <a:srgbClr val="B8BCC4"/>
    <a:srgbClr val="0039A6"/>
    <a:srgbClr val="2C729B"/>
    <a:srgbClr val="E1A460"/>
    <a:srgbClr val="F9FDF7"/>
    <a:srgbClr val="F7FBF6"/>
    <a:srgbClr val="F8F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6/11/relationships/changesInfo" Target="changesInfos/changesInfo1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dan Vladimir Peña Ulloa" userId="15de9948-6185-45da-a345-9606ce3f5802" providerId="ADAL" clId="{2F4006DF-B0B5-45D3-8412-6A698DECF218}"/>
    <pc:docChg chg="undo redo custSel addSld delSld modSld sldOrd">
      <pc:chgData name="Eydan Vladimir Peña Ulloa" userId="15de9948-6185-45da-a345-9606ce3f5802" providerId="ADAL" clId="{2F4006DF-B0B5-45D3-8412-6A698DECF218}" dt="2026-06-11T23:41:30.066" v="6805" actId="47"/>
      <pc:docMkLst>
        <pc:docMk/>
      </pc:docMkLst>
      <pc:sldChg chg="addSp delSp del mod modShow">
        <pc:chgData name="Eydan Vladimir Peña Ulloa" userId="15de9948-6185-45da-a345-9606ce3f5802" providerId="ADAL" clId="{2F4006DF-B0B5-45D3-8412-6A698DECF218}" dt="2026-06-11T23:41:27.599" v="6804" actId="47"/>
        <pc:sldMkLst>
          <pc:docMk/>
          <pc:sldMk cId="3015769577" sldId="1286"/>
        </pc:sldMkLst>
      </pc:sldChg>
      <pc:sldChg chg="modSp mod">
        <pc:chgData name="Eydan Vladimir Peña Ulloa" userId="15de9948-6185-45da-a345-9606ce3f5802" providerId="ADAL" clId="{2F4006DF-B0B5-45D3-8412-6A698DECF218}" dt="2026-06-11T23:40:38.348" v="6802" actId="1035"/>
        <pc:sldMkLst>
          <pc:docMk/>
          <pc:sldMk cId="2835928911" sldId="1405"/>
        </pc:sldMkLst>
        <pc:spChg chg="mod">
          <ac:chgData name="Eydan Vladimir Peña Ulloa" userId="15de9948-6185-45da-a345-9606ce3f5802" providerId="ADAL" clId="{2F4006DF-B0B5-45D3-8412-6A698DECF218}" dt="2026-06-11T23:40:38.348" v="6802" actId="1035"/>
          <ac:spMkLst>
            <pc:docMk/>
            <pc:sldMk cId="2835928911" sldId="1405"/>
            <ac:spMk id="4" creationId="{6FDDE8E2-AA88-6FD6-BC2B-63CA330DF406}"/>
          </ac:spMkLst>
        </pc:spChg>
      </pc:sldChg>
      <pc:sldChg chg="del">
        <pc:chgData name="Eydan Vladimir Peña Ulloa" userId="15de9948-6185-45da-a345-9606ce3f5802" providerId="ADAL" clId="{2F4006DF-B0B5-45D3-8412-6A698DECF218}" dt="2026-06-11T23:41:30.066" v="6805" actId="47"/>
        <pc:sldMkLst>
          <pc:docMk/>
          <pc:sldMk cId="345240521" sldId="1431"/>
        </pc:sldMkLst>
      </pc:sldChg>
      <pc:sldChg chg="del">
        <pc:chgData name="Eydan Vladimir Peña Ulloa" userId="15de9948-6185-45da-a345-9606ce3f5802" providerId="ADAL" clId="{2F4006DF-B0B5-45D3-8412-6A698DECF218}" dt="2026-06-11T23:41:26.027" v="6803" actId="47"/>
        <pc:sldMkLst>
          <pc:docMk/>
          <pc:sldMk cId="3726674163" sldId="1432"/>
        </pc:sldMkLst>
      </pc:sldChg>
      <pc:sldChg chg="delSp modSp add mod delAnim">
        <pc:chgData name="Eydan Vladimir Peña Ulloa" userId="15de9948-6185-45da-a345-9606ce3f5802" providerId="ADAL" clId="{2F4006DF-B0B5-45D3-8412-6A698DECF218}" dt="2026-05-29T19:39:00.942" v="6797" actId="20577"/>
        <pc:sldMkLst>
          <pc:docMk/>
          <pc:sldMk cId="3076030402" sldId="1433"/>
        </pc:sldMkLst>
        <pc:spChg chg="mod">
          <ac:chgData name="Eydan Vladimir Peña Ulloa" userId="15de9948-6185-45da-a345-9606ce3f5802" providerId="ADAL" clId="{2F4006DF-B0B5-45D3-8412-6A698DECF218}" dt="2026-05-29T19:39:00.942" v="6797" actId="20577"/>
          <ac:spMkLst>
            <pc:docMk/>
            <pc:sldMk cId="3076030402" sldId="1433"/>
            <ac:spMk id="18" creationId="{B0931551-43B1-11D5-6158-9ED923342BAB}"/>
          </ac:spMkLst>
        </pc:spChg>
        <pc:spChg chg="mod">
          <ac:chgData name="Eydan Vladimir Peña Ulloa" userId="15de9948-6185-45da-a345-9606ce3f5802" providerId="ADAL" clId="{2F4006DF-B0B5-45D3-8412-6A698DECF218}" dt="2026-05-29T19:37:47.314" v="6775" actId="1076"/>
          <ac:spMkLst>
            <pc:docMk/>
            <pc:sldMk cId="3076030402" sldId="1433"/>
            <ac:spMk id="20" creationId="{E62380E2-453C-4EE3-B1DD-DBE500DE7D77}"/>
          </ac:spMkLst>
        </pc:spChg>
        <pc:spChg chg="mod">
          <ac:chgData name="Eydan Vladimir Peña Ulloa" userId="15de9948-6185-45da-a345-9606ce3f5802" providerId="ADAL" clId="{2F4006DF-B0B5-45D3-8412-6A698DECF218}" dt="2026-05-29T19:37:54.475" v="6777" actId="1076"/>
          <ac:spMkLst>
            <pc:docMk/>
            <pc:sldMk cId="3076030402" sldId="1433"/>
            <ac:spMk id="22" creationId="{798022FB-41D3-8913-31FD-05542F7ACC65}"/>
          </ac:spMkLst>
        </pc:spChg>
        <pc:spChg chg="mod">
          <ac:chgData name="Eydan Vladimir Peña Ulloa" userId="15de9948-6185-45da-a345-9606ce3f5802" providerId="ADAL" clId="{2F4006DF-B0B5-45D3-8412-6A698DECF218}" dt="2026-05-29T19:38:50.914" v="6791" actId="20577"/>
          <ac:spMkLst>
            <pc:docMk/>
            <pc:sldMk cId="3076030402" sldId="1433"/>
            <ac:spMk id="25" creationId="{9C01E055-0BFC-F135-F601-E26A72092FEC}"/>
          </ac:spMkLst>
        </pc:spChg>
        <pc:spChg chg="mod">
          <ac:chgData name="Eydan Vladimir Peña Ulloa" userId="15de9948-6185-45da-a345-9606ce3f5802" providerId="ADAL" clId="{2F4006DF-B0B5-45D3-8412-6A698DECF218}" dt="2026-05-29T14:21:22.401" v="6767" actId="1076"/>
          <ac:spMkLst>
            <pc:docMk/>
            <pc:sldMk cId="3076030402" sldId="1433"/>
            <ac:spMk id="2064" creationId="{A6A4DFC0-7D98-EE78-65AB-AE4944D0317B}"/>
          </ac:spMkLst>
        </pc:spChg>
        <pc:spChg chg="mod">
          <ac:chgData name="Eydan Vladimir Peña Ulloa" userId="15de9948-6185-45da-a345-9606ce3f5802" providerId="ADAL" clId="{2F4006DF-B0B5-45D3-8412-6A698DECF218}" dt="2026-05-29T14:21:06.928" v="6766" actId="1076"/>
          <ac:spMkLst>
            <pc:docMk/>
            <pc:sldMk cId="3076030402" sldId="1433"/>
            <ac:spMk id="2081" creationId="{A27DDDD0-C799-E254-5441-DCCC01D70761}"/>
          </ac:spMkLst>
        </pc:spChg>
        <pc:spChg chg="mod">
          <ac:chgData name="Eydan Vladimir Peña Ulloa" userId="15de9948-6185-45da-a345-9606ce3f5802" providerId="ADAL" clId="{2F4006DF-B0B5-45D3-8412-6A698DECF218}" dt="2026-05-29T19:38:14.799" v="6784" actId="1076"/>
          <ac:spMkLst>
            <pc:docMk/>
            <pc:sldMk cId="3076030402" sldId="1433"/>
            <ac:spMk id="2083" creationId="{B4C26B06-BCC5-36B2-7832-01918ECDF73E}"/>
          </ac:spMkLst>
        </pc:spChg>
        <pc:spChg chg="mod">
          <ac:chgData name="Eydan Vladimir Peña Ulloa" userId="15de9948-6185-45da-a345-9606ce3f5802" providerId="ADAL" clId="{2F4006DF-B0B5-45D3-8412-6A698DECF218}" dt="2026-05-29T19:38:41.313" v="6790" actId="20577"/>
          <ac:spMkLst>
            <pc:docMk/>
            <pc:sldMk cId="3076030402" sldId="1433"/>
            <ac:spMk id="2089" creationId="{163BE190-DDDF-8244-D33E-6D393C1E399B}"/>
          </ac:spMkLst>
        </pc:spChg>
        <pc:grpChg chg="mod">
          <ac:chgData name="Eydan Vladimir Peña Ulloa" userId="15de9948-6185-45da-a345-9606ce3f5802" providerId="ADAL" clId="{2F4006DF-B0B5-45D3-8412-6A698DECF218}" dt="2026-05-29T14:21:06.928" v="6766" actId="1076"/>
          <ac:grpSpMkLst>
            <pc:docMk/>
            <pc:sldMk cId="3076030402" sldId="1433"/>
            <ac:grpSpMk id="6" creationId="{D8C09568-2FFA-3E5E-F822-7DDCAC0D3F03}"/>
          </ac:grpSpMkLst>
        </pc:grpChg>
        <pc:picChg chg="mod">
          <ac:chgData name="Eydan Vladimir Peña Ulloa" userId="15de9948-6185-45da-a345-9606ce3f5802" providerId="ADAL" clId="{2F4006DF-B0B5-45D3-8412-6A698DECF218}" dt="2026-05-29T14:21:06.928" v="6766" actId="1076"/>
          <ac:picMkLst>
            <pc:docMk/>
            <pc:sldMk cId="3076030402" sldId="1433"/>
            <ac:picMk id="2072" creationId="{D246B565-D860-0E81-701F-8E8335BD55D2}"/>
          </ac:picMkLst>
        </pc:picChg>
        <pc:picChg chg="mod">
          <ac:chgData name="Eydan Vladimir Peña Ulloa" userId="15de9948-6185-45da-a345-9606ce3f5802" providerId="ADAL" clId="{2F4006DF-B0B5-45D3-8412-6A698DECF218}" dt="2026-05-29T14:21:06.928" v="6766" actId="1076"/>
          <ac:picMkLst>
            <pc:docMk/>
            <pc:sldMk cId="3076030402" sldId="1433"/>
            <ac:picMk id="2079" creationId="{28B14359-9053-59A4-5DF7-6E14284862BC}"/>
          </ac:picMkLst>
        </pc:picChg>
        <pc:picChg chg="mod">
          <ac:chgData name="Eydan Vladimir Peña Ulloa" userId="15de9948-6185-45da-a345-9606ce3f5802" providerId="ADAL" clId="{2F4006DF-B0B5-45D3-8412-6A698DECF218}" dt="2026-05-29T14:21:06.928" v="6766" actId="1076"/>
          <ac:picMkLst>
            <pc:docMk/>
            <pc:sldMk cId="3076030402" sldId="1433"/>
            <ac:picMk id="2080" creationId="{DF14DA2F-1416-F0AE-E365-CFC170F13E2F}"/>
          </ac:picMkLst>
        </pc:picChg>
        <pc:picChg chg="mod">
          <ac:chgData name="Eydan Vladimir Peña Ulloa" userId="15de9948-6185-45da-a345-9606ce3f5802" providerId="ADAL" clId="{2F4006DF-B0B5-45D3-8412-6A698DECF218}" dt="2026-05-29T14:21:06.928" v="6766" actId="1076"/>
          <ac:picMkLst>
            <pc:docMk/>
            <pc:sldMk cId="3076030402" sldId="1433"/>
            <ac:picMk id="2084" creationId="{4E851AFD-BCD8-2F90-6303-F836EFC38E1A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ADA35B-B15F-481A-9841-A468F87FF5BA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BAE6E8-2F82-4BD4-A92F-D2857E252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493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447A-A294-3636-BEF9-DB056F35A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6095BC-3CB1-1DC2-96DE-2CCB006D0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922CA-F30B-205F-F3F7-BA5C4B72F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23196-851F-BD1F-18B6-295CBEA5E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97A75-6875-AF2E-5327-8199B988B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821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09B6B-D6F1-1F63-9A6A-6E537C12F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DF6F1-87CC-9896-C736-FC8090A8A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A945A-953A-967E-722B-B2FDAC4BF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6FD0D-B7F6-1481-900F-2C76A7F29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67386-BA33-B6E1-2380-9AA8F5DCE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80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357B6-4A17-C058-8534-7E3F91EE9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A717B-D9BF-2C63-B513-2B617DDFF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A2B24-4A53-B21E-E3BD-C20EB6ED6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F6881-0BF8-EB56-BDE9-98C01A72D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9DA53-1A07-D8F6-7BE7-E6846700B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18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615DF-37A0-AA7B-97BC-731DA4A96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E5552-820B-5BBC-2964-D1A44AE27F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7C2187-ADAB-B281-B48C-1540679DE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8F40F-8D10-CFE7-F3FB-0F3B3C91B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D387B6-4971-29DB-2F21-2A4C2C7C8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D8F8E-A92F-FED0-1F85-C8BB06807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814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CD66F-DAE5-C1D7-2C18-F3DE2769E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64EC7-50EF-8132-A311-CD819128A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79ED77-4ED5-7748-A5E7-2D1B9432B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A1F2FA-6DF9-8B42-ADE2-058DB24534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E1195D-EC81-E545-83D3-2068CA5FAA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DBD520-9EF9-73BC-F928-3D8092223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6A1AC7-0D1E-5C12-F8BB-B069B699A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13C9C9-4136-C3AB-E966-CC37C5D8D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314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C351D-B3C9-C1F5-FB84-20CEE4094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EB2A2E-4B2F-FFE5-0AA9-C6E43AB72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135461-EAE3-4F47-98AF-BB1304E5D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9B6DB-B1A5-4CF4-84DB-CDA75A107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18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F5536E-B3F2-0A2D-EA3B-886F03D20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96EEA-433D-F557-028C-88E16C0D8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73766-DC13-1A8F-F602-7A69FFE4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78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9BBC0-3128-3ACA-C8BE-F932155DF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0983B-5AD2-2A69-0450-B4CEDA8F9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E3C93-8F2B-ACAA-D0A7-AA92FE662E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283DC-7E1B-4C0E-CBC7-855018B54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1F95B-6461-A871-3F83-4AF7EE060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202CE-93E9-4598-418A-FE0D82821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795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09918-352E-34E2-7C4E-AA61765D8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7ADD9B-4B92-DFDC-B9BB-9AFE04BCB3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C8838D-DBF0-299A-D889-92332D4D5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C5A7A-5071-C152-F9B5-BE2A723C1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14B3F-B68C-60AE-54F8-268492A1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D39D0C-8A64-609C-3E1F-7EE5AE79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498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E92BE-0759-2561-2EED-C07F9CC5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4E38F-2F23-5CC4-C9B3-E73B86F3A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5D3C1-8180-3A2F-AEE8-5D8C66A6D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4AFEC-0A0F-AB55-190D-025EA56AC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88242-4788-7353-63F6-F2DAF15C0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16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73EF08-811A-2E21-429F-1843937EE2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F81B13-3DF5-CF4D-3BB7-64DF106E79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A1469-F260-6FAB-1180-7B671056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EFBCA-0A49-DC29-3DA7-66E4EFACC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CFFCD-3151-8646-024D-83E55337D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9030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687AFF-BB07-4866-317F-1ADF10109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41960-D7FB-A33A-66AE-60EE9E30B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9BA96-671E-3757-9B45-B478CFA21D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74935-F7AD-4CC4-9133-05EDF7CEE70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B9BD5-9BF3-3C24-CB60-25945B3F9F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2111B-2B00-5212-9701-CD69B6C02B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322813-9090-47D3-B1E4-B0430C02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702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Análisis de Correlación Espacial Bottom-Up de la SUHI en Monterrey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Zona Metropolitana de Monterrey</a:t>
            </a:r>
          </a:p>
          <a:p>
            <a:r>
              <a:t>Modelo de Correlación Bivariada Bottom-Up (Vegetación e Industria)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Contexto: Isla de Calor Urbana Superficial (SUHI) en Monterrey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b="1"/>
              <a:t>Desafío</a:t>
            </a:r>
            <a:r>
              <a:rPr b="0"/>
              <a:t>: La Zona Metropolitana de Monterrey (ZMM) experimenta una intensa presión térmica urbana.</a:t>
            </a:r>
          </a:p>
          <a:p>
            <a:pPr>
              <a:spcAft>
                <a:spcPts val="800"/>
              </a:spcAft>
            </a:pPr>
            <a:r>
              <a:rPr b="1"/>
              <a:t>Enfoque de Análisis</a:t>
            </a:r>
            <a:r>
              <a:rPr b="0"/>
              <a:t>: Transición de análisis agregados (Top-Down) a un análisis de grano fino (</a:t>
            </a:r>
            <a:r>
              <a:rPr b="1"/>
              <a:t>Bottom-Up</a:t>
            </a:r>
            <a:r>
              <a:rPr b="0"/>
              <a:t>).</a:t>
            </a:r>
          </a:p>
          <a:p>
            <a:pPr>
              <a:spcAft>
                <a:spcPts val="800"/>
              </a:spcAft>
            </a:pPr>
            <a:r>
              <a:rPr b="1"/>
              <a:t>Objetivo</a:t>
            </a:r>
            <a:r>
              <a:rPr b="0"/>
              <a:t>: Evaluar la asociación espacial bivariada entre la temperatura superficial diurna, la vegetación y la presencia industrial a escala micrométrica.</a:t>
            </a:r>
          </a:p>
          <a:p>
            <a:pPr>
              <a:spcAft>
                <a:spcPts val="800"/>
              </a:spcAft>
            </a:pPr>
            <a:r>
              <a:rPr b="1"/>
              <a:t>Relevancia</a:t>
            </a:r>
            <a:r>
              <a:rPr b="0"/>
              <a:t>: Informar la toma de decisiones territoriales con base en correlaciones locales de celdas físicas de 30 metros.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Metodología del Análisis Bottom-Up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b="1"/>
              <a:t>Unidad de Observación</a:t>
            </a:r>
            <a:r>
              <a:rPr b="0"/>
              <a:t>: Celdas físicas regulares de 30 metros de resolución espacial.</a:t>
            </a:r>
          </a:p>
          <a:p>
            <a:pPr>
              <a:spcAft>
                <a:spcPts val="800"/>
              </a:spcAft>
            </a:pPr>
            <a:r>
              <a:rPr b="1"/>
              <a:t>Agrupadores Territoriales</a:t>
            </a:r>
            <a:r>
              <a:rPr b="0"/>
              <a:t>: Municipios (Monterrey, San Pedro, Guadalupe, San Nicolás) y 401 AGEBs de la ZMM.</a:t>
            </a:r>
          </a:p>
          <a:p>
            <a:pPr>
              <a:spcAft>
                <a:spcPts val="800"/>
              </a:spcAft>
            </a:pPr>
            <a:r>
              <a:rPr b="1"/>
              <a:t>Método Estadístico</a:t>
            </a:r>
            <a:r>
              <a:rPr b="0"/>
              <a:t>: Coeficiente de correlación de rangos de Spearman (r) para medir asociaciones monotónicas (no relaciones de causalidad física directa).</a:t>
            </a:r>
          </a:p>
          <a:p>
            <a:pPr>
              <a:spcAft>
                <a:spcPts val="800"/>
              </a:spcAft>
            </a:pPr>
            <a:r>
              <a:rPr b="1"/>
              <a:t>Filtro de Representatividad</a:t>
            </a:r>
            <a:r>
              <a:rPr b="0"/>
              <a:t>: Umbrales mínimos de muestras para robustez:</a:t>
            </a:r>
          </a:p>
          <a:p>
            <a:pPr lvl="1">
              <a:spcAft>
                <a:spcPts val="800"/>
              </a:spcAft>
            </a:pPr>
            <a:r>
              <a:rPr b="0"/>
              <a:t>*Nivel Municipio*: N ≥ 50 (Global) / N ≥ 30 (Segmentado).</a:t>
            </a:r>
          </a:p>
          <a:p>
            <a:pPr lvl="1">
              <a:spcAft>
                <a:spcPts val="800"/>
              </a:spcAft>
            </a:pPr>
            <a:r>
              <a:rPr b="0"/>
              <a:t>*Nivel AGEB*: N ≥ 30 (Global) / N ≥ 15 (Segmentado).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y Escalas de Análisis Multiescala (Buffers)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b="1"/>
              <a:t>Variable Objetivo</a:t>
            </a:r>
            <a:r>
              <a:rPr b="0"/>
              <a:t>: Temperatura superficial diurna (`suhi_day_c`).</a:t>
            </a:r>
          </a:p>
          <a:p>
            <a:pPr>
              <a:spcAft>
                <a:spcPts val="800"/>
              </a:spcAft>
            </a:pPr>
            <a:r>
              <a:rPr b="1"/>
              <a:t>Bloque Mitigación</a:t>
            </a:r>
            <a:r>
              <a:rPr b="0"/>
              <a:t>: Porcentaje de vegetación (`green_pct`).</a:t>
            </a:r>
          </a:p>
          <a:p>
            <a:pPr>
              <a:spcAft>
                <a:spcPts val="800"/>
              </a:spcAft>
            </a:pPr>
            <a:r>
              <a:rPr b="1"/>
              <a:t>Bloque Presión Industrial</a:t>
            </a:r>
            <a:r>
              <a:rPr b="0"/>
              <a:t>: Presencia industrial (`industrial_osm_pct`) e industrial ponderada por densidad.</a:t>
            </a:r>
          </a:p>
          <a:p>
            <a:pPr>
              <a:spcAft>
                <a:spcPts val="800"/>
              </a:spcAft>
            </a:pPr>
            <a:r>
              <a:rPr b="1"/>
              <a:t>Escalas Analizadas</a:t>
            </a:r>
            <a:r>
              <a:rPr b="0"/>
              <a:t>:</a:t>
            </a:r>
          </a:p>
          <a:p>
            <a:pPr lvl="1">
              <a:spcAft>
                <a:spcPts val="800"/>
              </a:spcAft>
            </a:pPr>
            <a:r>
              <a:rPr b="0"/>
              <a:t>*Local*: 30 m de resolución.</a:t>
            </a:r>
          </a:p>
          <a:p>
            <a:pPr lvl="1">
              <a:spcAft>
                <a:spcPts val="800"/>
              </a:spcAft>
            </a:pPr>
            <a:r>
              <a:rPr b="0"/>
              <a:t>*Buffers de Vecindario*: 100 m, 250 m, 500 m y 1000 m (1 km).</a:t>
            </a:r>
          </a:p>
          <a:p>
            <a:pPr>
              <a:spcAft>
                <a:spcPts val="800"/>
              </a:spcAft>
            </a:pPr>
            <a:r>
              <a:rPr b="1"/>
              <a:t>Significado de N/D (No Disponible)</a:t>
            </a:r>
            <a:r>
              <a:rPr b="0"/>
              <a:t>: Señala segmentos con variabilidad nula o con cantidad de celdas por debajo del umbral mínimo.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Resultados: Vegetación y Enfriamiento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b="1"/>
              <a:t>Asociación Negativa (Enfriamiento)</a:t>
            </a:r>
            <a:r>
              <a:rPr b="0"/>
              <a:t>: A nivel global, una mayor cobertura de vegetación se asocia con temperaturas superficiales más bajas.</a:t>
            </a:r>
          </a:p>
          <a:p>
            <a:pPr>
              <a:spcAft>
                <a:spcPts val="800"/>
              </a:spcAft>
            </a:pPr>
            <a:r>
              <a:rPr b="1"/>
              <a:t>Coeficientes de Spearman Globales (r)</a:t>
            </a:r>
            <a:r>
              <a:rPr b="0"/>
              <a:t> (Local 30m vs. Vecindario 500m):</a:t>
            </a:r>
          </a:p>
          <a:p>
            <a:pPr lvl="1">
              <a:spcAft>
                <a:spcPts val="800"/>
              </a:spcAft>
            </a:pPr>
            <a:r>
              <a:rPr b="1"/>
              <a:t>San Pedro Garza García</a:t>
            </a:r>
            <a:r>
              <a:rPr b="0"/>
              <a:t>: r = -0.239 (local) / r = -0.247 (500m)</a:t>
            </a:r>
          </a:p>
          <a:p>
            <a:pPr lvl="1">
              <a:spcAft>
                <a:spcPts val="800"/>
              </a:spcAft>
            </a:pPr>
            <a:r>
              <a:rPr b="1"/>
              <a:t>Guadalupe</a:t>
            </a:r>
            <a:r>
              <a:rPr b="0"/>
              <a:t>: r = -0.210 (local) / r = -0.062 (500m)</a:t>
            </a:r>
          </a:p>
          <a:p>
            <a:pPr lvl="1">
              <a:spcAft>
                <a:spcPts val="800"/>
              </a:spcAft>
            </a:pPr>
            <a:r>
              <a:rPr b="1"/>
              <a:t>San Nicolás de los Garza</a:t>
            </a:r>
            <a:r>
              <a:rPr b="0"/>
              <a:t>: r = -0.088 (local) / r = -0.098 (500m)</a:t>
            </a:r>
          </a:p>
          <a:p>
            <a:pPr lvl="1">
              <a:spcAft>
                <a:spcPts val="800"/>
              </a:spcAft>
            </a:pPr>
            <a:r>
              <a:rPr b="1"/>
              <a:t>Monterrey</a:t>
            </a:r>
            <a:r>
              <a:rPr b="0"/>
              <a:t>: r = -0.068 (local) / r = +0.007 (500m)</a:t>
            </a:r>
          </a:p>
          <a:p>
            <a:pPr>
              <a:spcAft>
                <a:spcPts val="800"/>
              </a:spcAft>
            </a:pPr>
            <a:r>
              <a:rPr b="1"/>
              <a:t>Sensibilidad</a:t>
            </a:r>
            <a:r>
              <a:rPr b="0"/>
              <a:t>: La asociación de enfriamiento es más intensa a escalas de vecindario (250m–500m) en áreas residenciales de densidad baja y media (ej. Guadalupe Baja alcanza r = -0.645 a 250m).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Resultados: Presión Térmica Industrial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b="1"/>
              <a:t>Asociación Positiva (Calentamiento)</a:t>
            </a:r>
            <a:r>
              <a:rPr b="0"/>
              <a:t>: Mayor presencia industrial se asocia con un incremento de la temperatura superficial diurna.</a:t>
            </a:r>
          </a:p>
          <a:p>
            <a:pPr>
              <a:spcAft>
                <a:spcPts val="800"/>
              </a:spcAft>
            </a:pPr>
            <a:r>
              <a:rPr b="1"/>
              <a:t>Coeficientes de Spearman Globales (r)</a:t>
            </a:r>
            <a:r>
              <a:rPr b="0"/>
              <a:t> (Local 30m vs. Vecindario 500m):</a:t>
            </a:r>
          </a:p>
          <a:p>
            <a:pPr lvl="1">
              <a:spcAft>
                <a:spcPts val="800"/>
              </a:spcAft>
            </a:pPr>
            <a:r>
              <a:rPr b="1"/>
              <a:t>San Nicolás de los Garza</a:t>
            </a:r>
            <a:r>
              <a:rPr b="0"/>
              <a:t>: r = +0.409 (local) / r = +0.493 (500m)</a:t>
            </a:r>
          </a:p>
          <a:p>
            <a:pPr lvl="1">
              <a:spcAft>
                <a:spcPts val="800"/>
              </a:spcAft>
            </a:pPr>
            <a:r>
              <a:rPr b="1"/>
              <a:t>Monterrey</a:t>
            </a:r>
            <a:r>
              <a:rPr b="0"/>
              <a:t>: r = +0.121 (local) / r = +0.149 (500m)</a:t>
            </a:r>
          </a:p>
          <a:p>
            <a:pPr lvl="1">
              <a:spcAft>
                <a:spcPts val="800"/>
              </a:spcAft>
            </a:pPr>
            <a:r>
              <a:rPr b="1"/>
              <a:t>Guadalupe</a:t>
            </a:r>
            <a:r>
              <a:rPr b="0"/>
              <a:t>: r = +0.001 (local) / r = -0.177 (500m)</a:t>
            </a:r>
          </a:p>
          <a:p>
            <a:pPr lvl="1">
              <a:spcAft>
                <a:spcPts val="800"/>
              </a:spcAft>
            </a:pPr>
            <a:r>
              <a:rPr b="1"/>
              <a:t>San Pedro Garza García</a:t>
            </a:r>
            <a:r>
              <a:rPr b="0"/>
              <a:t>: r = -0.006 (local) / r = +0.013 (500m)</a:t>
            </a:r>
          </a:p>
          <a:p>
            <a:pPr>
              <a:spcAft>
                <a:spcPts val="800"/>
              </a:spcAft>
            </a:pPr>
            <a:r>
              <a:rPr b="1"/>
              <a:t>San Pedro y Colindancia (Spillover)</a:t>
            </a:r>
            <a:r>
              <a:rPr b="0"/>
              <a:t>: En San Pedro (Baja densidad), la correlación es nula a escala local pero alcanza </a:t>
            </a:r>
            <a:r>
              <a:rPr b="1"/>
              <a:t>r = +0.579</a:t>
            </a:r>
            <a:r>
              <a:rPr b="0"/>
              <a:t> a escala de 1000m. Esto sugiere inercia térmica por desbordamiento espacial de zonas industriales colindantes en Santa Catarina y Monterrey.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Asociación Limitada en Áreas Densas (Saturación Construida)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b="1"/>
              <a:t>Pérdida de Asociación en Alta Densidad</a:t>
            </a:r>
            <a:r>
              <a:rPr b="0"/>
              <a:t>: En zonas con densidad construida \ge 60\%, la correlación vegetación-temperatura se reduce a valores cercanos a cero.</a:t>
            </a:r>
          </a:p>
          <a:p>
            <a:pPr>
              <a:spcAft>
                <a:spcPts val="800"/>
              </a:spcAft>
            </a:pPr>
            <a:r>
              <a:rPr b="1"/>
              <a:t>Coeficientes de Vegetación por Densidad</a:t>
            </a:r>
            <a:r>
              <a:rPr b="0"/>
              <a:t> (Local 30m):</a:t>
            </a:r>
          </a:p>
          <a:p>
            <a:pPr lvl="1">
              <a:spcAft>
                <a:spcPts val="800"/>
              </a:spcAft>
            </a:pPr>
            <a:r>
              <a:rPr b="0"/>
              <a:t>*Baja Densidad (&lt; 20%)*: San Pedro (r = -0.781), Monterrey (r = -0.489), San Nicolás (r = -0.536).</a:t>
            </a:r>
          </a:p>
          <a:p>
            <a:pPr lvl="1">
              <a:spcAft>
                <a:spcPts val="800"/>
              </a:spcAft>
            </a:pPr>
            <a:r>
              <a:rPr b="0"/>
              <a:t>*Alta Densidad (\ge 60\%)*: San Pedro (r = -0.116), Guadalupe (r = -0.042), Monterrey (r = -0.026).</a:t>
            </a:r>
          </a:p>
          <a:p>
            <a:pPr>
              <a:spcAft>
                <a:spcPts val="800"/>
              </a:spcAft>
            </a:pPr>
            <a:r>
              <a:rPr b="1"/>
              <a:t>Significado</a:t>
            </a:r>
            <a:r>
              <a:rPr b="0"/>
              <a:t>: En vecindarios saturados de concreto, la reforestación aislada muestra una asociación estadística muy débil o no significativa con la variación de la temperatura superficial local.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Recomendaciones de Política Pública e Intervenciones Urbanas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b="1"/>
              <a:t>Barreras Forestales Industriales</a:t>
            </a:r>
            <a:r>
              <a:rPr b="0"/>
              <a:t> (Tablas 2.1B y 2.3): Implementar buffers forestales de amortiguamiento térmico en radios de 250 m a 500 m en polígonos de San Nicolás y Monterrey.</a:t>
            </a:r>
          </a:p>
          <a:p>
            <a:pPr>
              <a:spcAft>
                <a:spcPts val="800"/>
              </a:spcAft>
            </a:pPr>
            <a:r>
              <a:rPr b="1"/>
              <a:t>Planificación Metropolitana del Microclima</a:t>
            </a:r>
            <a:r>
              <a:rPr b="0"/>
              <a:t>: Coordinar buffers forestales intermunicipales debido al efecto de desbordamiento espacial (*spatial spillover*) identificado en San Pedro.</a:t>
            </a:r>
          </a:p>
          <a:p>
            <a:pPr>
              <a:spcAft>
                <a:spcPts val="800"/>
              </a:spcAft>
            </a:pPr>
            <a:r>
              <a:rPr b="1"/>
              <a:t>Mitigación Pasiva en Alta Densidad</a:t>
            </a:r>
            <a:r>
              <a:rPr b="0"/>
              <a:t> (Tabla 2.2): En vecindarios altamente impermeabilizados, priorizar cambios de materialidad (aumento de albedo en techos fríos y fachadas reflejantes) sobre arborización dispersa.</a:t>
            </a:r>
          </a:p>
          <a:p>
            <a:pPr>
              <a:spcAft>
                <a:spcPts val="800"/>
              </a:spcAft>
            </a:pPr>
            <a:r>
              <a:rPr b="1"/>
              <a:t>Infraestructura Verde Barrial</a:t>
            </a:r>
            <a:r>
              <a:rPr b="0"/>
              <a:t> (Tabla 2.2): Diseñar redes de parques y corredores arbolados barriales enfocando radios de influencia de 250 m a 500 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Siguientes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b="1"/>
              <a:t>Alineación Espacial</a:t>
            </a:r>
            <a:r>
              <a:rPr b="0"/>
              <a:t>: Integrar resultados del modelo correlacional con la delimitación de zonas críticas de calor (hotspots).</a:t>
            </a:r>
          </a:p>
          <a:p>
            <a:pPr>
              <a:spcAft>
                <a:spcPts val="800"/>
              </a:spcAft>
            </a:pPr>
            <a:r>
              <a:rPr b="1"/>
              <a:t>Geovisualización</a:t>
            </a:r>
            <a:r>
              <a:rPr b="0"/>
              <a:t>: Incorporar la capa enriquecida de AGEBs (`ageb_correlaciones_sensibilidad.gpkg`) en sistemas de información geográfica municipales (QGIS/ArcGIS).</a:t>
            </a:r>
          </a:p>
          <a:p>
            <a:pPr>
              <a:spcAft>
                <a:spcPts val="800"/>
              </a:spcAft>
            </a:pPr>
            <a:r>
              <a:rPr b="1"/>
              <a:t>Modelación Multitemporal</a:t>
            </a:r>
            <a:r>
              <a:rPr b="0"/>
              <a:t>: Ampliar el análisis para capturar variaciones estacionales (invierno/verano) y tendencias interanuales.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1348</Words>
  <Application>Microsoft Office PowerPoint</Application>
  <PresentationFormat>Widescreen</PresentationFormat>
  <Paragraphs>294</Paragraphs>
  <Slides>19</Slides>
  <Notes>16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Courier New</vt:lpstr>
      <vt:lpstr>Times New Roman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Eydan Vladimir Peña Ulloa</dc:creator>
  <cp:lastModifiedBy>Eydan Vladimir Peña Ulloa</cp:lastModifiedBy>
  <cp:revision>1</cp:revision>
  <dcterms:created xsi:type="dcterms:W3CDTF">2026-02-20T22:31:37Z</dcterms:created>
  <dcterms:modified xsi:type="dcterms:W3CDTF">2026-06-11T23:41:35Z</dcterms:modified>
</cp:coreProperties>
</file>