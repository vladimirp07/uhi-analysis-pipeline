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BAB1A-A9AC-A6F4-8835-292F84EE8DF2}" name="Eydan Vladimir Peña Ulloa" initials="EP" userId="S::A00837432@tec.mx::15de9948-6185-45da-a345-9606ce3f58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AE0"/>
    <a:srgbClr val="CCD1D9"/>
    <a:srgbClr val="FDFFFF"/>
    <a:srgbClr val="B8BCC4"/>
    <a:srgbClr val="0039A6"/>
    <a:srgbClr val="2C729B"/>
    <a:srgbClr val="E1A460"/>
    <a:srgbClr val="F9FDF7"/>
    <a:srgbClr val="F7FBF6"/>
    <a:srgbClr val="F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dan Vladimir Peña Ulloa" userId="15de9948-6185-45da-a345-9606ce3f5802" providerId="ADAL" clId="{2F4006DF-B0B5-45D3-8412-6A698DECF218}"/>
    <pc:docChg chg="undo redo custSel addSld delSld modSld sldOrd">
      <pc:chgData name="Eydan Vladimir Peña Ulloa" userId="15de9948-6185-45da-a345-9606ce3f5802" providerId="ADAL" clId="{2F4006DF-B0B5-45D3-8412-6A698DECF218}" dt="2026-06-11T23:41:30.066" v="6805" actId="47"/>
      <pc:docMkLst>
        <pc:docMk/>
      </pc:docMkLst>
      <pc:sldChg chg="addSp delSp del mod modShow">
        <pc:chgData name="Eydan Vladimir Peña Ulloa" userId="15de9948-6185-45da-a345-9606ce3f5802" providerId="ADAL" clId="{2F4006DF-B0B5-45D3-8412-6A698DECF218}" dt="2026-06-11T23:41:27.599" v="6804" actId="47"/>
        <pc:sldMkLst>
          <pc:docMk/>
          <pc:sldMk cId="3015769577" sldId="1286"/>
        </pc:sldMkLst>
      </pc:sldChg>
      <pc:sldChg chg="modSp mod">
        <pc:chgData name="Eydan Vladimir Peña Ulloa" userId="15de9948-6185-45da-a345-9606ce3f5802" providerId="ADAL" clId="{2F4006DF-B0B5-45D3-8412-6A698DECF218}" dt="2026-06-11T23:40:38.348" v="6802" actId="1035"/>
        <pc:sldMkLst>
          <pc:docMk/>
          <pc:sldMk cId="2835928911" sldId="1405"/>
        </pc:sldMkLst>
        <pc:spChg chg="mod">
          <ac:chgData name="Eydan Vladimir Peña Ulloa" userId="15de9948-6185-45da-a345-9606ce3f5802" providerId="ADAL" clId="{2F4006DF-B0B5-45D3-8412-6A698DECF218}" dt="2026-06-11T23:40:38.348" v="6802" actId="1035"/>
          <ac:spMkLst>
            <pc:docMk/>
            <pc:sldMk cId="2835928911" sldId="1405"/>
            <ac:spMk id="4" creationId="{6FDDE8E2-AA88-6FD6-BC2B-63CA330DF406}"/>
          </ac:spMkLst>
        </pc:spChg>
      </pc:sldChg>
      <pc:sldChg chg="del">
        <pc:chgData name="Eydan Vladimir Peña Ulloa" userId="15de9948-6185-45da-a345-9606ce3f5802" providerId="ADAL" clId="{2F4006DF-B0B5-45D3-8412-6A698DECF218}" dt="2026-06-11T23:41:30.066" v="6805" actId="47"/>
        <pc:sldMkLst>
          <pc:docMk/>
          <pc:sldMk cId="345240521" sldId="1431"/>
        </pc:sldMkLst>
      </pc:sldChg>
      <pc:sldChg chg="del">
        <pc:chgData name="Eydan Vladimir Peña Ulloa" userId="15de9948-6185-45da-a345-9606ce3f5802" providerId="ADAL" clId="{2F4006DF-B0B5-45D3-8412-6A698DECF218}" dt="2026-06-11T23:41:26.027" v="6803" actId="47"/>
        <pc:sldMkLst>
          <pc:docMk/>
          <pc:sldMk cId="3726674163" sldId="1432"/>
        </pc:sldMkLst>
      </pc:sldChg>
      <pc:sldChg chg="delSp modSp add mod delAnim">
        <pc:chgData name="Eydan Vladimir Peña Ulloa" userId="15de9948-6185-45da-a345-9606ce3f5802" providerId="ADAL" clId="{2F4006DF-B0B5-45D3-8412-6A698DECF218}" dt="2026-05-29T19:39:00.942" v="6797" actId="20577"/>
        <pc:sldMkLst>
          <pc:docMk/>
          <pc:sldMk cId="3076030402" sldId="1433"/>
        </pc:sldMkLst>
        <pc:spChg chg="mod">
          <ac:chgData name="Eydan Vladimir Peña Ulloa" userId="15de9948-6185-45da-a345-9606ce3f5802" providerId="ADAL" clId="{2F4006DF-B0B5-45D3-8412-6A698DECF218}" dt="2026-05-29T19:39:00.942" v="6797" actId="20577"/>
          <ac:spMkLst>
            <pc:docMk/>
            <pc:sldMk cId="3076030402" sldId="1433"/>
            <ac:spMk id="18" creationId="{B0931551-43B1-11D5-6158-9ED923342BAB}"/>
          </ac:spMkLst>
        </pc:spChg>
        <pc:spChg chg="mod">
          <ac:chgData name="Eydan Vladimir Peña Ulloa" userId="15de9948-6185-45da-a345-9606ce3f5802" providerId="ADAL" clId="{2F4006DF-B0B5-45D3-8412-6A698DECF218}" dt="2026-05-29T19:37:47.314" v="6775" actId="1076"/>
          <ac:spMkLst>
            <pc:docMk/>
            <pc:sldMk cId="3076030402" sldId="1433"/>
            <ac:spMk id="20" creationId="{E62380E2-453C-4EE3-B1DD-DBE500DE7D77}"/>
          </ac:spMkLst>
        </pc:spChg>
        <pc:spChg chg="mod">
          <ac:chgData name="Eydan Vladimir Peña Ulloa" userId="15de9948-6185-45da-a345-9606ce3f5802" providerId="ADAL" clId="{2F4006DF-B0B5-45D3-8412-6A698DECF218}" dt="2026-05-29T19:37:54.475" v="6777" actId="1076"/>
          <ac:spMkLst>
            <pc:docMk/>
            <pc:sldMk cId="3076030402" sldId="1433"/>
            <ac:spMk id="22" creationId="{798022FB-41D3-8913-31FD-05542F7ACC65}"/>
          </ac:spMkLst>
        </pc:spChg>
        <pc:spChg chg="mod">
          <ac:chgData name="Eydan Vladimir Peña Ulloa" userId="15de9948-6185-45da-a345-9606ce3f5802" providerId="ADAL" clId="{2F4006DF-B0B5-45D3-8412-6A698DECF218}" dt="2026-05-29T19:38:50.914" v="6791" actId="20577"/>
          <ac:spMkLst>
            <pc:docMk/>
            <pc:sldMk cId="3076030402" sldId="1433"/>
            <ac:spMk id="25" creationId="{9C01E055-0BFC-F135-F601-E26A72092FEC}"/>
          </ac:spMkLst>
        </pc:spChg>
        <pc:spChg chg="mod">
          <ac:chgData name="Eydan Vladimir Peña Ulloa" userId="15de9948-6185-45da-a345-9606ce3f5802" providerId="ADAL" clId="{2F4006DF-B0B5-45D3-8412-6A698DECF218}" dt="2026-05-29T14:21:22.401" v="6767" actId="1076"/>
          <ac:spMkLst>
            <pc:docMk/>
            <pc:sldMk cId="3076030402" sldId="1433"/>
            <ac:spMk id="2064" creationId="{A6A4DFC0-7D98-EE78-65AB-AE4944D0317B}"/>
          </ac:spMkLst>
        </pc:spChg>
        <pc:spChg chg="mod">
          <ac:chgData name="Eydan Vladimir Peña Ulloa" userId="15de9948-6185-45da-a345-9606ce3f5802" providerId="ADAL" clId="{2F4006DF-B0B5-45D3-8412-6A698DECF218}" dt="2026-05-29T14:21:06.928" v="6766" actId="1076"/>
          <ac:spMkLst>
            <pc:docMk/>
            <pc:sldMk cId="3076030402" sldId="1433"/>
            <ac:spMk id="2081" creationId="{A27DDDD0-C799-E254-5441-DCCC01D70761}"/>
          </ac:spMkLst>
        </pc:spChg>
        <pc:spChg chg="mod">
          <ac:chgData name="Eydan Vladimir Peña Ulloa" userId="15de9948-6185-45da-a345-9606ce3f5802" providerId="ADAL" clId="{2F4006DF-B0B5-45D3-8412-6A698DECF218}" dt="2026-05-29T19:38:14.799" v="6784" actId="1076"/>
          <ac:spMkLst>
            <pc:docMk/>
            <pc:sldMk cId="3076030402" sldId="1433"/>
            <ac:spMk id="2083" creationId="{B4C26B06-BCC5-36B2-7832-01918ECDF73E}"/>
          </ac:spMkLst>
        </pc:spChg>
        <pc:spChg chg="mod">
          <ac:chgData name="Eydan Vladimir Peña Ulloa" userId="15de9948-6185-45da-a345-9606ce3f5802" providerId="ADAL" clId="{2F4006DF-B0B5-45D3-8412-6A698DECF218}" dt="2026-05-29T19:38:41.313" v="6790" actId="20577"/>
          <ac:spMkLst>
            <pc:docMk/>
            <pc:sldMk cId="3076030402" sldId="1433"/>
            <ac:spMk id="2089" creationId="{163BE190-DDDF-8244-D33E-6D393C1E399B}"/>
          </ac:spMkLst>
        </pc:spChg>
        <pc:grpChg chg="mod">
          <ac:chgData name="Eydan Vladimir Peña Ulloa" userId="15de9948-6185-45da-a345-9606ce3f5802" providerId="ADAL" clId="{2F4006DF-B0B5-45D3-8412-6A698DECF218}" dt="2026-05-29T14:21:06.928" v="6766" actId="1076"/>
          <ac:grpSpMkLst>
            <pc:docMk/>
            <pc:sldMk cId="3076030402" sldId="1433"/>
            <ac:grpSpMk id="6" creationId="{D8C09568-2FFA-3E5E-F822-7DDCAC0D3F03}"/>
          </ac:grpSpMkLst>
        </pc:grp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2" creationId="{D246B565-D860-0E81-701F-8E8335BD55D2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9" creationId="{28B14359-9053-59A4-5DF7-6E14284862BC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0" creationId="{DF14DA2F-1416-F0AE-E365-CFC170F13E2F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4" creationId="{4E851AFD-BCD8-2F90-6303-F836EFC38E1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DA35B-B15F-481A-9841-A468F87FF5B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AE6E8-2F82-4BD4-A92F-D2857E25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447A-A294-3636-BEF9-DB056F35A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095BC-3CB1-1DC2-96DE-2CCB006D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922CA-F30B-205F-F3F7-BA5C4B72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3196-851F-BD1F-18B6-295CBEA5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97A75-6875-AF2E-5327-8199B988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9B6B-D6F1-1F63-9A6A-6E537C12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F6F1-87CC-9896-C736-FC8090A8A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945A-953A-967E-722B-B2FDAC4B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6FD0D-B7F6-1481-900F-2C76A7F2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7386-BA33-B6E1-2380-9AA8F5DC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57B6-4A17-C058-8534-7E3F91EE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A717B-D9BF-2C63-B513-2B617DDF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2B24-4A53-B21E-E3BD-C20EB6ED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6881-0BF8-EB56-BDE9-98C01A72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9DA53-1A07-D8F6-7BE7-E6846700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15DF-37A0-AA7B-97BC-731DA4A9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5552-820B-5BBC-2964-D1A44AE27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C2187-ADAB-B281-B48C-1540679D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8F40F-8D10-CFE7-F3FB-0F3B3C91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387B6-4971-29DB-2F21-2A4C2C7C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F8E-A92F-FED0-1F85-C8BB0680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D66F-DAE5-C1D7-2C18-F3DE2769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64EC7-50EF-8132-A311-CD819128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9ED77-4ED5-7748-A5E7-2D1B9432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F2FA-6DF9-8B42-ADE2-058DB2453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1195D-EC81-E545-83D3-2068CA5FA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BD520-9EF9-73BC-F928-3D809222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A1AC7-0D1E-5C12-F8BB-B069B699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3C9C9-4136-C3AB-E966-CC37C5D8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1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351D-B3C9-C1F5-FB84-20CEE409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B2A2E-4B2F-FFE5-0AA9-C6E43AB7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35461-EAE3-4F47-98AF-BB1304E5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9B6DB-B1A5-4CF4-84DB-CDA75A10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1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5536E-B3F2-0A2D-EA3B-886F03D2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96EEA-433D-F557-028C-88E16C0D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3766-DC13-1A8F-F602-7A69FFE4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BBC0-3128-3ACA-C8BE-F932155D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983B-5AD2-2A69-0450-B4CEDA8F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E3C93-8F2B-ACAA-D0A7-AA92FE66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283DC-7E1B-4C0E-CBC7-855018B5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F95B-6461-A871-3F83-4AF7EE06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202CE-93E9-4598-418A-FE0D8282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9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9918-352E-34E2-7C4E-AA61765D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ADD9B-4B92-DFDC-B9BB-9AFE04BCB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8838D-DBF0-299A-D889-92332D4D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C5A7A-5071-C152-F9B5-BE2A723C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14B3F-B68C-60AE-54F8-268492A1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39D0C-8A64-609C-3E1F-7EE5AE79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9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92BE-0759-2561-2EED-C07F9CC5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4E38F-2F23-5CC4-C9B3-E73B86F3A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D3C1-8180-3A2F-AEE8-5D8C66A6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AFEC-0A0F-AB55-190D-025EA56A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88242-4788-7353-63F6-F2DAF15C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3EF08-811A-2E21-429F-1843937EE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81B13-3DF5-CF4D-3BB7-64DF106E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1469-F260-6FAB-1180-7B671056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FBCA-0A49-DC29-3DA7-66E4EFAC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CFFCD-3151-8646-024D-83E55337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90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87AFF-BB07-4866-317F-1ADF1010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41960-D7FB-A33A-66AE-60EE9E30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BA96-671E-3757-9B45-B478CFA21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B9BD5-9BF3-3C24-CB60-25945B3F9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2111B-2B00-5212-9701-CD69B6C0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0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Correlación Espacial Bottom-Up de la SUHI en Monterrey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Asociaciones Territoriales: Vegetación e Industria</a:t>
            </a:r>
          </a:p>
          <a:p>
            <a:r>
              <a:t>Modelo de Grano Fino (Celdas de 30m) Multiescala</a:t>
            </a:r>
          </a:p>
          <a:p>
            <a:r>
              <a:t>Zona Metropolitana de Monterrey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Motivación: Asociación Térmica en Monterrey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Variación Térmica</a:t>
            </a:r>
            <a:r>
              <a:rPr sz="1300" b="0">
                <a:latin typeface="Arial"/>
              </a:rPr>
              <a:t>: La Zona Metropolitana de Monterrey (ZMM) registra incrementos térmicos diurnos en su temperatura superficial que inciden en el microclima.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Uso de Energía y Bienestar</a:t>
            </a:r>
            <a:r>
              <a:rPr sz="1300" b="0">
                <a:latin typeface="Arial"/>
              </a:rPr>
              <a:t>: Las temperaturas superficiales elevadas se asocian a un mayor consumo eléctrico por climatización y a condiciones urbanas desfavorables.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Criterio de Intervención</a:t>
            </a:r>
            <a:r>
              <a:rPr sz="1300" b="0">
                <a:latin typeface="Arial"/>
              </a:rPr>
              <a:t>: Identificar qué variables de cobertura física muestran asociación con la atenuación o incremento de la temperatura ayuda a planificar áreas prioritarias.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Necesidad: Limitaciones de Modelos Agregados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Ocultamiento de Patrones Locales</a:t>
            </a:r>
            <a:r>
              <a:rPr sz="1300" b="0">
                <a:latin typeface="Arial"/>
              </a:rPr>
              <a:t>: Los análisis agregados a nivel municipal o metropolitano omiten la variabilidad microclimática espacial dentro de la ciudad.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Sensibilidad a la Escala</a:t>
            </a:r>
            <a:r>
              <a:rPr sz="1300" b="0">
                <a:latin typeface="Arial"/>
              </a:rPr>
              <a:t>: La relación de atenuación de la vegetación varía en radios locales y vecinales específicos que se pierden en promedios globales.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Homogeneidad Falsificada</a:t>
            </a:r>
            <a:r>
              <a:rPr sz="1300" b="0">
                <a:latin typeface="Arial"/>
              </a:rPr>
              <a:t>: Tratar la mancha urbana como un tejido homogéneo diluye las dinámicas propias de los distintos niveles de edificación.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de Datos Analizadas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Temperatura Superficial (SUHI)</a:t>
            </a:r>
            <a:r>
              <a:rPr sz="1300" b="0">
                <a:latin typeface="Arial"/>
              </a:rPr>
              <a:t>: Capa satelital térmica diurna procesada a resolución de 30 metros.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Vegetación</a:t>
            </a:r>
            <a:r>
              <a:rPr sz="1300" b="0">
                <a:latin typeface="Arial"/>
              </a:rPr>
              <a:t>: Clasificación y porcentaje de cobertura verde (green_pct) medida en celda local y buffers radiales.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Presencia Industrial</a:t>
            </a:r>
            <a:r>
              <a:rPr sz="1300" b="0">
                <a:latin typeface="Arial"/>
              </a:rPr>
              <a:t>: Polígonos industriales de OpenStreetMap (OSM) expresados como porcentaje de ocupación local y buffers.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Límites Político-Administrativos</a:t>
            </a:r>
            <a:r>
              <a:rPr sz="1300" b="0">
                <a:latin typeface="Arial"/>
              </a:rPr>
              <a:t>: Cartografía oficial de Municipios y AGEB como contenedores del análisis espacial.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Densidad de Suelo Construido</a:t>
            </a:r>
            <a:r>
              <a:rPr sz="1300" b="0">
                <a:latin typeface="Arial"/>
              </a:rPr>
              <a:t>: Porcentaje edificado por celda usado para segmentar el territorio.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en 4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1. Discretización Territorial</a:t>
            </a:r>
            <a:r>
              <a:rPr sz="1300" b="0">
                <a:latin typeface="Arial"/>
              </a:rPr>
              <a:t>: División de la mancha urbana de la ZMM en celdas físicas regulares de 30 metros.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2. Asignación Temática</a:t>
            </a:r>
            <a:r>
              <a:rPr sz="1300" b="0">
                <a:latin typeface="Arial"/>
              </a:rPr>
              <a:t>: Vinculación de cada celda con su municipio correspondiente, AGEB y zona de densidad construida.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3. Cálculo Multiescala</a:t>
            </a:r>
            <a:r>
              <a:rPr sz="1300" b="0">
                <a:latin typeface="Arial"/>
              </a:rPr>
              <a:t>: Medición del porcentaje de vegetación e industria en la celda (30m) y buffers circulares (100m, 250m, 500m y 1000m).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4. Análisis Estadístico</a:t>
            </a:r>
            <a:r>
              <a:rPr sz="1300" b="0">
                <a:latin typeface="Arial"/>
              </a:rPr>
              <a:t>: Medición del nivel de asociación con la SUHI usando el coeficiente de correlación de Spearman (r).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dividir por densidad construida?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Comportamiento Diferenciado</a:t>
            </a:r>
            <a:r>
              <a:rPr sz="1300" b="0">
                <a:latin typeface="Arial"/>
              </a:rPr>
              <a:t>: La misma cantidad de vegetación no necesariamente tiene la misma asociación con la temperatura en una zona abierta, una zona residencial media o una zona altamente construida. Por eso se separó el análisis por densidad.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Clases de Densidad de Suelo</a:t>
            </a:r>
            <a:r>
              <a:rPr sz="1300" b="0">
                <a:latin typeface="Arial"/>
              </a:rPr>
              <a:t>:</a:t>
            </a:r>
          </a:p>
          <a:p>
            <a:pPr lvl="1">
              <a:spcAft>
                <a:spcPts val="1000"/>
              </a:spcAft>
            </a:pPr>
            <a:r>
              <a:rPr sz="1300" b="1">
                <a:latin typeface="Arial"/>
              </a:rPr>
              <a:t>Baja densidad</a:t>
            </a:r>
            <a:r>
              <a:rPr sz="1300" b="0">
                <a:latin typeface="Arial"/>
              </a:rPr>
              <a:t>: &lt; 20% construido.</a:t>
            </a:r>
          </a:p>
          <a:p>
            <a:pPr lvl="1">
              <a:spcAft>
                <a:spcPts val="1000"/>
              </a:spcAft>
            </a:pPr>
            <a:r>
              <a:rPr sz="1300" b="1">
                <a:latin typeface="Arial"/>
              </a:rPr>
              <a:t>Media densidad</a:t>
            </a:r>
            <a:r>
              <a:rPr sz="1300" b="0">
                <a:latin typeface="Arial"/>
              </a:rPr>
              <a:t>: 20%–60% construido.</a:t>
            </a:r>
          </a:p>
          <a:p>
            <a:pPr lvl="1">
              <a:spcAft>
                <a:spcPts val="1000"/>
              </a:spcAft>
            </a:pPr>
            <a:r>
              <a:rPr sz="1300" b="1">
                <a:latin typeface="Arial"/>
              </a:rPr>
              <a:t>Alta densidad</a:t>
            </a:r>
            <a:r>
              <a:rPr sz="1300" b="0">
                <a:latin typeface="Arial"/>
              </a:rPr>
              <a:t>: &gt;= 60% construido.</a:t>
            </a:r>
          </a:p>
        </p:txBody>
      </p:sp>
      <p:pic>
        <p:nvPicPr>
          <p:cNvPr id="4" name="Picture 3" descr="mapa_zonas_dens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analizar por municipio?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Estructuras Urbanas Propias</a:t>
            </a:r>
            <a:r>
              <a:rPr sz="1300" b="0">
                <a:latin typeface="Arial"/>
              </a:rPr>
              <a:t>: Los municipios tienen configuraciones urbanas distintas; algunos son residenciales, otros de carácter industrial o altamente densificados.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Evitar Sesgos de Mezcla</a:t>
            </a:r>
            <a:r>
              <a:rPr sz="1300" b="0">
                <a:latin typeface="Arial"/>
              </a:rPr>
              <a:t>: Analizar los municipios de forma individual evita mezclar patrones territoriales diferentes en una sola correlación metropolitana que resultaría errónea.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Gestión Municipal</a:t>
            </a:r>
            <a:r>
              <a:rPr sz="1300" b="0">
                <a:latin typeface="Arial"/>
              </a:rPr>
              <a:t>: Facilita la aplicación de políticas públicas y planes de desarrollo urbano a nivel de la autoridad local responsable.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1: Vegetación y Enfriamiento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Asociación Negativa</a:t>
            </a:r>
            <a:r>
              <a:rPr sz="1300" b="0">
                <a:latin typeface="Arial"/>
              </a:rPr>
              <a:t>: La vegetación muestra correlaciones negativas significativas en áreas de baja densidad construida.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San Pedro (Baja)</a:t>
            </a:r>
            <a:r>
              <a:rPr sz="1300" b="0">
                <a:latin typeface="Arial"/>
              </a:rPr>
              <a:t>: Mayor asociación de enfriamiento local observada (r = -0.811 a 100m).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Desplazamiento Escalar</a:t>
            </a:r>
            <a:r>
              <a:rPr sz="1300" b="0">
                <a:latin typeface="Arial"/>
              </a:rPr>
              <a:t>: En Guadalupe y San Nicolás, la vegetación muestra mayor asociación a escalas de vecindario (500m–1000m).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34"/>
                <a:gridCol w="796834"/>
                <a:gridCol w="796834"/>
                <a:gridCol w="796834"/>
                <a:gridCol w="796834"/>
                <a:gridCol w="796834"/>
                <a:gridCol w="796836"/>
              </a:tblGrid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Celdas (N)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Local 30m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250m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1,723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1,510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3,129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-0.140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escala del verde cambia por municipio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Patrón Espacial por Municipio</a:t>
            </a:r>
            <a:r>
              <a:rPr sz="1300" b="0">
                <a:latin typeface="Arial"/>
              </a:rPr>
              <a:t>: Las curvas de asociación muestran comportamientos diferentes según el territorio analizado.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Sensibilidad Local</a:t>
            </a:r>
            <a:r>
              <a:rPr sz="1300" b="0">
                <a:latin typeface="Arial"/>
              </a:rPr>
              <a:t>: San Pedro muestra correlaciones estables en escalas pequeñas (30m–100m).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Sensibilidad Vecinal</a:t>
            </a:r>
            <a:r>
              <a:rPr sz="1300" b="0">
                <a:latin typeface="Arial"/>
              </a:rPr>
              <a:t>: Guadalupe inicia con una asociación local débil (r = -0.278) que se incrementa en buffers de 1000m (r = -0.676).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San Nicolás y Monterrey</a:t>
            </a:r>
            <a:r>
              <a:rPr sz="1300" b="0">
                <a:latin typeface="Arial"/>
              </a:rPr>
              <a:t>: Curvas óptimas de asociación localizadas entre 250m y 500m.</a:t>
            </a:r>
          </a:p>
        </p:txBody>
      </p:sp>
      <p:pic>
        <p:nvPicPr>
          <p:cNvPr id="4" name="Picture 3" descr="vegetacion_baja_densidad_buf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2: Industria y Presión Térmica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Asociación Positiva</a:t>
            </a:r>
            <a:r>
              <a:rPr sz="1300" b="0">
                <a:latin typeface="Arial"/>
              </a:rPr>
              <a:t>: La presencia industrial muestra asociaciones directas con temperaturas superficiales más elevadas.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San Nicolás</a:t>
            </a:r>
            <a:r>
              <a:rPr sz="1300" b="0">
                <a:latin typeface="Arial"/>
              </a:rPr>
              <a:t>: Fuerte asociación positiva en todas las densidades (hasta </a:t>
            </a:r>
            <a:r>
              <a:rPr sz="1300" b="1">
                <a:latin typeface="Arial"/>
              </a:rPr>
              <a:t>r = +0.643</a:t>
            </a:r>
            <a:r>
              <a:rPr sz="1300" b="0">
                <a:latin typeface="Arial"/>
              </a:rPr>
              <a:t> en baja densidad).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Desbordamiento Térmico (Spillover)</a:t>
            </a:r>
            <a:r>
              <a:rPr sz="1300" b="0">
                <a:latin typeface="Arial"/>
              </a:rPr>
              <a:t>: En San Pedro, sin áreas industriales locales, se observa correlación positiva de </a:t>
            </a:r>
            <a:r>
              <a:rPr sz="1300" b="1">
                <a:latin typeface="Arial"/>
              </a:rPr>
              <a:t>r = +0.579</a:t>
            </a:r>
            <a:r>
              <a:rPr sz="1300" b="0">
                <a:latin typeface="Arial"/>
              </a:rPr>
              <a:t> a 1000m, sugiriendo la inercia térmica de corredores industriales colindantes de Santa Catarina.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Densidad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Local 30m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250m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Alta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+0.361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+0.374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+0.304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N/D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+0.093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3: Saturación en Alta Densidad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Pérdida de Asociación</a:t>
            </a:r>
            <a:r>
              <a:rPr sz="1300" b="0">
                <a:latin typeface="Arial"/>
              </a:rPr>
              <a:t>: En zonas con densidad construida &gt;= 60%, la correlación negativa de la vegetación local disminuye a valores cercanos a cero.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Saturación Construida</a:t>
            </a:r>
            <a:r>
              <a:rPr sz="1300" b="0">
                <a:latin typeface="Arial"/>
              </a:rPr>
              <a:t>: Los materiales de construcción y la escasez de suelo permeable limitan la capacidad de asociación de la vegetación aislada.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Mención Secundaria (AGEB)</a:t>
            </a:r>
            <a:r>
              <a:rPr sz="1300" b="0">
                <a:latin typeface="Arial"/>
              </a:rPr>
              <a:t>: La escala de AGEB se conserva como salida espacial para mapas de sensibilidad, pero no es el foco de esta presentación.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 en Baja (&lt;20%)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 en Alta (&gt;=60%)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Diferencia de 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Implicaciones de Intervención Urbana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Zonas de Amortiguamiento</a:t>
            </a:r>
            <a:r>
              <a:rPr sz="1300" b="0">
                <a:latin typeface="Arial"/>
              </a:rPr>
              <a:t>: Diseñar buffers verdes de 250m a 500m en polígonos industriales (San Nicolás y Monterrey) para mitigar la asociación térmica observada.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Planificación Intermunicipal</a:t>
            </a:r>
            <a:r>
              <a:rPr sz="1300" b="0">
                <a:latin typeface="Arial"/>
              </a:rPr>
              <a:t>: Coordinar áreas de amortiguamiento a escala metropolitana debido al fenómeno de colindancia intermunicipal identificado en San Pedro.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Modificación de Materialidad</a:t>
            </a:r>
            <a:r>
              <a:rPr sz="1300" b="0">
                <a:latin typeface="Arial"/>
              </a:rPr>
              <a:t>: En zonas con alta densidad construida (&gt;= 60%), priorizar el uso de materiales de alta reflectancia (techos fríos con alto albedo) y pavimentos permeables.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Infraestructura Verde Barrial</a:t>
            </a:r>
            <a:r>
              <a:rPr sz="1300" b="0">
                <a:latin typeface="Arial"/>
              </a:rPr>
              <a:t>: Focalizar el diseño de parques vecinales con radios de influencia óptimos de 250m a 500m.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Siguientes Pasos y Trabajo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Integración con Hotspots</a:t>
            </a:r>
            <a:r>
              <a:rPr sz="1300" b="0">
                <a:latin typeface="Arial"/>
              </a:rPr>
              <a:t>: Cruzar los patrones de asociación bivariada con la delimitación espacial física de zonas críticas de calor.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Uso de Capas AGEB</a:t>
            </a:r>
            <a:r>
              <a:rPr sz="1300" b="0">
                <a:latin typeface="Arial"/>
              </a:rPr>
              <a:t>: Incorporar el Geopackage multiescala (ageb_correlaciones_sensibilidad.gpkg) en sistemas SIG locales para el diseño de políticas específicas de reforestación.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Modelación Temporal</a:t>
            </a:r>
            <a:r>
              <a:rPr sz="1300" b="0">
                <a:latin typeface="Arial"/>
              </a:rPr>
              <a:t>: Incorporar análisis estacionales (variabilidad invierno/verano) y nocturnos para capturar de manera integral el microclima metropolitano.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1348</Words>
  <Application>Microsoft Office PowerPoint</Application>
  <PresentationFormat>Widescreen</PresentationFormat>
  <Paragraphs>294</Paragraphs>
  <Slides>19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Eydan Vladimir Peña Ulloa</dc:creator>
  <cp:lastModifiedBy>Eydan Vladimir Peña Ulloa</cp:lastModifiedBy>
  <cp:revision>1</cp:revision>
  <dcterms:created xsi:type="dcterms:W3CDTF">2026-02-20T22:31:37Z</dcterms:created>
  <dcterms:modified xsi:type="dcterms:W3CDTF">2026-06-11T23:41:35Z</dcterms:modified>
</cp:coreProperties>
</file>