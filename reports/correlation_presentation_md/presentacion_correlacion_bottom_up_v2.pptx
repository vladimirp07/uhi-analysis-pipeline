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EBAB1A-A9AC-A6F4-8835-292F84EE8DF2}" name="Eydan Vladimir Peña Ulloa" initials="EP" userId="S::A00837432@tec.mx::15de9948-6185-45da-a345-9606ce3f580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AE0"/>
    <a:srgbClr val="CCD1D9"/>
    <a:srgbClr val="FDFFFF"/>
    <a:srgbClr val="B8BCC4"/>
    <a:srgbClr val="0039A6"/>
    <a:srgbClr val="2C729B"/>
    <a:srgbClr val="E1A460"/>
    <a:srgbClr val="F9FDF7"/>
    <a:srgbClr val="F7FBF6"/>
    <a:srgbClr val="F8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dan Vladimir Peña Ulloa" userId="15de9948-6185-45da-a345-9606ce3f5802" providerId="ADAL" clId="{2F4006DF-B0B5-45D3-8412-6A698DECF218}"/>
    <pc:docChg chg="undo redo custSel addSld delSld modSld sldOrd">
      <pc:chgData name="Eydan Vladimir Peña Ulloa" userId="15de9948-6185-45da-a345-9606ce3f5802" providerId="ADAL" clId="{2F4006DF-B0B5-45D3-8412-6A698DECF218}" dt="2026-06-11T23:41:30.066" v="6805" actId="47"/>
      <pc:docMkLst>
        <pc:docMk/>
      </pc:docMkLst>
      <pc:sldChg chg="addSp delSp del mod modShow">
        <pc:chgData name="Eydan Vladimir Peña Ulloa" userId="15de9948-6185-45da-a345-9606ce3f5802" providerId="ADAL" clId="{2F4006DF-B0B5-45D3-8412-6A698DECF218}" dt="2026-06-11T23:41:27.599" v="6804" actId="47"/>
        <pc:sldMkLst>
          <pc:docMk/>
          <pc:sldMk cId="3015769577" sldId="1286"/>
        </pc:sldMkLst>
      </pc:sldChg>
      <pc:sldChg chg="modSp mod">
        <pc:chgData name="Eydan Vladimir Peña Ulloa" userId="15de9948-6185-45da-a345-9606ce3f5802" providerId="ADAL" clId="{2F4006DF-B0B5-45D3-8412-6A698DECF218}" dt="2026-06-11T23:40:38.348" v="6802" actId="1035"/>
        <pc:sldMkLst>
          <pc:docMk/>
          <pc:sldMk cId="2835928911" sldId="1405"/>
        </pc:sldMkLst>
        <pc:spChg chg="mod">
          <ac:chgData name="Eydan Vladimir Peña Ulloa" userId="15de9948-6185-45da-a345-9606ce3f5802" providerId="ADAL" clId="{2F4006DF-B0B5-45D3-8412-6A698DECF218}" dt="2026-06-11T23:40:38.348" v="6802" actId="1035"/>
          <ac:spMkLst>
            <pc:docMk/>
            <pc:sldMk cId="2835928911" sldId="1405"/>
            <ac:spMk id="4" creationId="{6FDDE8E2-AA88-6FD6-BC2B-63CA330DF406}"/>
          </ac:spMkLst>
        </pc:spChg>
      </pc:sldChg>
      <pc:sldChg chg="del">
        <pc:chgData name="Eydan Vladimir Peña Ulloa" userId="15de9948-6185-45da-a345-9606ce3f5802" providerId="ADAL" clId="{2F4006DF-B0B5-45D3-8412-6A698DECF218}" dt="2026-06-11T23:41:30.066" v="6805" actId="47"/>
        <pc:sldMkLst>
          <pc:docMk/>
          <pc:sldMk cId="345240521" sldId="1431"/>
        </pc:sldMkLst>
      </pc:sldChg>
      <pc:sldChg chg="del">
        <pc:chgData name="Eydan Vladimir Peña Ulloa" userId="15de9948-6185-45da-a345-9606ce3f5802" providerId="ADAL" clId="{2F4006DF-B0B5-45D3-8412-6A698DECF218}" dt="2026-06-11T23:41:26.027" v="6803" actId="47"/>
        <pc:sldMkLst>
          <pc:docMk/>
          <pc:sldMk cId="3726674163" sldId="1432"/>
        </pc:sldMkLst>
      </pc:sldChg>
      <pc:sldChg chg="delSp modSp add mod delAnim">
        <pc:chgData name="Eydan Vladimir Peña Ulloa" userId="15de9948-6185-45da-a345-9606ce3f5802" providerId="ADAL" clId="{2F4006DF-B0B5-45D3-8412-6A698DECF218}" dt="2026-05-29T19:39:00.942" v="6797" actId="20577"/>
        <pc:sldMkLst>
          <pc:docMk/>
          <pc:sldMk cId="3076030402" sldId="1433"/>
        </pc:sldMkLst>
        <pc:spChg chg="mod">
          <ac:chgData name="Eydan Vladimir Peña Ulloa" userId="15de9948-6185-45da-a345-9606ce3f5802" providerId="ADAL" clId="{2F4006DF-B0B5-45D3-8412-6A698DECF218}" dt="2026-05-29T19:39:00.942" v="6797" actId="20577"/>
          <ac:spMkLst>
            <pc:docMk/>
            <pc:sldMk cId="3076030402" sldId="1433"/>
            <ac:spMk id="18" creationId="{B0931551-43B1-11D5-6158-9ED923342BAB}"/>
          </ac:spMkLst>
        </pc:spChg>
        <pc:spChg chg="mod">
          <ac:chgData name="Eydan Vladimir Peña Ulloa" userId="15de9948-6185-45da-a345-9606ce3f5802" providerId="ADAL" clId="{2F4006DF-B0B5-45D3-8412-6A698DECF218}" dt="2026-05-29T19:37:47.314" v="6775" actId="1076"/>
          <ac:spMkLst>
            <pc:docMk/>
            <pc:sldMk cId="3076030402" sldId="1433"/>
            <ac:spMk id="20" creationId="{E62380E2-453C-4EE3-B1DD-DBE500DE7D77}"/>
          </ac:spMkLst>
        </pc:spChg>
        <pc:spChg chg="mod">
          <ac:chgData name="Eydan Vladimir Peña Ulloa" userId="15de9948-6185-45da-a345-9606ce3f5802" providerId="ADAL" clId="{2F4006DF-B0B5-45D3-8412-6A698DECF218}" dt="2026-05-29T19:37:54.475" v="6777" actId="1076"/>
          <ac:spMkLst>
            <pc:docMk/>
            <pc:sldMk cId="3076030402" sldId="1433"/>
            <ac:spMk id="22" creationId="{798022FB-41D3-8913-31FD-05542F7ACC65}"/>
          </ac:spMkLst>
        </pc:spChg>
        <pc:spChg chg="mod">
          <ac:chgData name="Eydan Vladimir Peña Ulloa" userId="15de9948-6185-45da-a345-9606ce3f5802" providerId="ADAL" clId="{2F4006DF-B0B5-45D3-8412-6A698DECF218}" dt="2026-05-29T19:38:50.914" v="6791" actId="20577"/>
          <ac:spMkLst>
            <pc:docMk/>
            <pc:sldMk cId="3076030402" sldId="1433"/>
            <ac:spMk id="25" creationId="{9C01E055-0BFC-F135-F601-E26A72092FEC}"/>
          </ac:spMkLst>
        </pc:spChg>
        <pc:spChg chg="mod">
          <ac:chgData name="Eydan Vladimir Peña Ulloa" userId="15de9948-6185-45da-a345-9606ce3f5802" providerId="ADAL" clId="{2F4006DF-B0B5-45D3-8412-6A698DECF218}" dt="2026-05-29T14:21:22.401" v="6767" actId="1076"/>
          <ac:spMkLst>
            <pc:docMk/>
            <pc:sldMk cId="3076030402" sldId="1433"/>
            <ac:spMk id="2064" creationId="{A6A4DFC0-7D98-EE78-65AB-AE4944D0317B}"/>
          </ac:spMkLst>
        </pc:spChg>
        <pc:spChg chg="mod">
          <ac:chgData name="Eydan Vladimir Peña Ulloa" userId="15de9948-6185-45da-a345-9606ce3f5802" providerId="ADAL" clId="{2F4006DF-B0B5-45D3-8412-6A698DECF218}" dt="2026-05-29T14:21:06.928" v="6766" actId="1076"/>
          <ac:spMkLst>
            <pc:docMk/>
            <pc:sldMk cId="3076030402" sldId="1433"/>
            <ac:spMk id="2081" creationId="{A27DDDD0-C799-E254-5441-DCCC01D70761}"/>
          </ac:spMkLst>
        </pc:spChg>
        <pc:spChg chg="mod">
          <ac:chgData name="Eydan Vladimir Peña Ulloa" userId="15de9948-6185-45da-a345-9606ce3f5802" providerId="ADAL" clId="{2F4006DF-B0B5-45D3-8412-6A698DECF218}" dt="2026-05-29T19:38:14.799" v="6784" actId="1076"/>
          <ac:spMkLst>
            <pc:docMk/>
            <pc:sldMk cId="3076030402" sldId="1433"/>
            <ac:spMk id="2083" creationId="{B4C26B06-BCC5-36B2-7832-01918ECDF73E}"/>
          </ac:spMkLst>
        </pc:spChg>
        <pc:spChg chg="mod">
          <ac:chgData name="Eydan Vladimir Peña Ulloa" userId="15de9948-6185-45da-a345-9606ce3f5802" providerId="ADAL" clId="{2F4006DF-B0B5-45D3-8412-6A698DECF218}" dt="2026-05-29T19:38:41.313" v="6790" actId="20577"/>
          <ac:spMkLst>
            <pc:docMk/>
            <pc:sldMk cId="3076030402" sldId="1433"/>
            <ac:spMk id="2089" creationId="{163BE190-DDDF-8244-D33E-6D393C1E399B}"/>
          </ac:spMkLst>
        </pc:spChg>
        <pc:grpChg chg="mod">
          <ac:chgData name="Eydan Vladimir Peña Ulloa" userId="15de9948-6185-45da-a345-9606ce3f5802" providerId="ADAL" clId="{2F4006DF-B0B5-45D3-8412-6A698DECF218}" dt="2026-05-29T14:21:06.928" v="6766" actId="1076"/>
          <ac:grpSpMkLst>
            <pc:docMk/>
            <pc:sldMk cId="3076030402" sldId="1433"/>
            <ac:grpSpMk id="6" creationId="{D8C09568-2FFA-3E5E-F822-7DDCAC0D3F03}"/>
          </ac:grpSpMkLst>
        </pc:grpChg>
        <pc:picChg chg="mod">
          <ac:chgData name="Eydan Vladimir Peña Ulloa" userId="15de9948-6185-45da-a345-9606ce3f5802" providerId="ADAL" clId="{2F4006DF-B0B5-45D3-8412-6A698DECF218}" dt="2026-05-29T14:21:06.928" v="6766" actId="1076"/>
          <ac:picMkLst>
            <pc:docMk/>
            <pc:sldMk cId="3076030402" sldId="1433"/>
            <ac:picMk id="2072" creationId="{D246B565-D860-0E81-701F-8E8335BD55D2}"/>
          </ac:picMkLst>
        </pc:picChg>
        <pc:picChg chg="mod">
          <ac:chgData name="Eydan Vladimir Peña Ulloa" userId="15de9948-6185-45da-a345-9606ce3f5802" providerId="ADAL" clId="{2F4006DF-B0B5-45D3-8412-6A698DECF218}" dt="2026-05-29T14:21:06.928" v="6766" actId="1076"/>
          <ac:picMkLst>
            <pc:docMk/>
            <pc:sldMk cId="3076030402" sldId="1433"/>
            <ac:picMk id="2079" creationId="{28B14359-9053-59A4-5DF7-6E14284862BC}"/>
          </ac:picMkLst>
        </pc:picChg>
        <pc:picChg chg="mod">
          <ac:chgData name="Eydan Vladimir Peña Ulloa" userId="15de9948-6185-45da-a345-9606ce3f5802" providerId="ADAL" clId="{2F4006DF-B0B5-45D3-8412-6A698DECF218}" dt="2026-05-29T14:21:06.928" v="6766" actId="1076"/>
          <ac:picMkLst>
            <pc:docMk/>
            <pc:sldMk cId="3076030402" sldId="1433"/>
            <ac:picMk id="2080" creationId="{DF14DA2F-1416-F0AE-E365-CFC170F13E2F}"/>
          </ac:picMkLst>
        </pc:picChg>
        <pc:picChg chg="mod">
          <ac:chgData name="Eydan Vladimir Peña Ulloa" userId="15de9948-6185-45da-a345-9606ce3f5802" providerId="ADAL" clId="{2F4006DF-B0B5-45D3-8412-6A698DECF218}" dt="2026-05-29T14:21:06.928" v="6766" actId="1076"/>
          <ac:picMkLst>
            <pc:docMk/>
            <pc:sldMk cId="3076030402" sldId="1433"/>
            <ac:picMk id="2084" creationId="{4E851AFD-BCD8-2F90-6303-F836EFC38E1A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ADA35B-B15F-481A-9841-A468F87FF5B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AE6E8-2F82-4BD4-A92F-D2857E252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93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447A-A294-3636-BEF9-DB056F35A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095BC-3CB1-1DC2-96DE-2CCB006D0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922CA-F30B-205F-F3F7-BA5C4B72F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23196-851F-BD1F-18B6-295CBEA5E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97A75-6875-AF2E-5327-8199B988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821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9B6B-D6F1-1F63-9A6A-6E537C12F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DF6F1-87CC-9896-C736-FC8090A8A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945A-953A-967E-722B-B2FDAC4BF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6FD0D-B7F6-1481-900F-2C76A7F29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67386-BA33-B6E1-2380-9AA8F5DC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80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357B6-4A17-C058-8534-7E3F91EE9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A717B-D9BF-2C63-B513-2B617DDFF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A2B24-4A53-B21E-E3BD-C20EB6ED6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6881-0BF8-EB56-BDE9-98C01A72D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9DA53-1A07-D8F6-7BE7-E6846700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18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615DF-37A0-AA7B-97BC-731DA4A96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E5552-820B-5BBC-2964-D1A44AE27F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C2187-ADAB-B281-B48C-1540679DE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8F40F-8D10-CFE7-F3FB-0F3B3C91B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387B6-4971-29DB-2F21-2A4C2C7C8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F8E-A92F-FED0-1F85-C8BB06807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1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CD66F-DAE5-C1D7-2C18-F3DE2769E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64EC7-50EF-8132-A311-CD819128A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9ED77-4ED5-7748-A5E7-2D1B9432B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A1F2FA-6DF9-8B42-ADE2-058DB2453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E1195D-EC81-E545-83D3-2068CA5FA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DBD520-9EF9-73BC-F928-3D809222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A1AC7-0D1E-5C12-F8BB-B069B699A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13C9C9-4136-C3AB-E966-CC37C5D8D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1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C351D-B3C9-C1F5-FB84-20CEE409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B2A2E-4B2F-FFE5-0AA9-C6E43AB72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35461-EAE3-4F47-98AF-BB1304E5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9B6DB-B1A5-4CF4-84DB-CDA75A107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18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F5536E-B3F2-0A2D-EA3B-886F03D20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96EEA-433D-F557-028C-88E16C0D8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73766-DC13-1A8F-F602-7A69FFE4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7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BBC0-3128-3ACA-C8BE-F932155DF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0983B-5AD2-2A69-0450-B4CEDA8F9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E3C93-8F2B-ACAA-D0A7-AA92FE662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283DC-7E1B-4C0E-CBC7-855018B54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1F95B-6461-A871-3F83-4AF7EE06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202CE-93E9-4598-418A-FE0D82821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95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09918-352E-34E2-7C4E-AA61765D8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7ADD9B-4B92-DFDC-B9BB-9AFE04BCB3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8838D-DBF0-299A-D889-92332D4D5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C5A7A-5071-C152-F9B5-BE2A723C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14B3F-B68C-60AE-54F8-268492A1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39D0C-8A64-609C-3E1F-7EE5AE79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98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E92BE-0759-2561-2EED-C07F9CC5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4E38F-2F23-5CC4-C9B3-E73B86F3A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5D3C1-8180-3A2F-AEE8-5D8C66A6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4AFEC-0A0F-AB55-190D-025EA56A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88242-4788-7353-63F6-F2DAF15C0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16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73EF08-811A-2E21-429F-1843937EE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81B13-3DF5-CF4D-3BB7-64DF106E7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A1469-F260-6FAB-1180-7B671056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EFBCA-0A49-DC29-3DA7-66E4EFAC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CFFCD-3151-8646-024D-83E55337D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903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687AFF-BB07-4866-317F-1ADF1010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41960-D7FB-A33A-66AE-60EE9E30B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9BA96-671E-3757-9B45-B478CFA21D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B9BD5-9BF3-3C24-CB60-25945B3F9F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2111B-2B00-5212-9701-CD69B6C02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02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determina la temperatura superficial en Monterrey?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1064240" cy="4572000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1400" b="1">
                <a:latin typeface="Arial"/>
              </a:rPr>
              <a:t>La Pregunta Clave</a:t>
            </a:r>
            <a:r>
              <a:rPr sz="1400" b="0">
                <a:latin typeface="Arial"/>
              </a:rPr>
              <a:t>: ¿Qué tan asociadas están la vegetación y la industria con la intensidad térmica de la SUHI a escalas locales e intermedias?</a:t>
            </a:r>
          </a:p>
          <a:p>
            <a:pPr>
              <a:spcAft>
                <a:spcPts val="1400"/>
              </a:spcAft>
            </a:pPr>
            <a:r>
              <a:rPr sz="1400" b="1">
                <a:latin typeface="Arial"/>
              </a:rPr>
              <a:t>Premisa de Enfoque</a:t>
            </a:r>
            <a:r>
              <a:rPr sz="1400" b="0">
                <a:latin typeface="Arial"/>
              </a:rPr>
              <a:t>: Superar las visiones agregadas (Top-Down) para revelar variaciones micrométricas mediante un análisis territorial </a:t>
            </a:r>
            <a:r>
              <a:rPr sz="1400" b="1">
                <a:latin typeface="Arial"/>
              </a:rPr>
              <a:t>Bottom-Up</a:t>
            </a:r>
            <a:r>
              <a:rPr sz="1400" b="0">
                <a:latin typeface="Arial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1400" b="1">
                <a:latin typeface="Arial"/>
              </a:rPr>
              <a:t>Principio Estadístico</a:t>
            </a:r>
            <a:r>
              <a:rPr sz="1400" b="0">
                <a:latin typeface="Arial"/>
              </a:rPr>
              <a:t>: Evaluar patrones de asociación monotónica (Spearman </a:t>
            </a:r>
            <a:r>
              <a:rPr sz="1400" b="1">
                <a:latin typeface="Arial"/>
              </a:rPr>
              <a:t>r</a:t>
            </a:r>
            <a:r>
              <a:rPr sz="1400" b="0">
                <a:latin typeface="Arial"/>
              </a:rPr>
              <a:t>) sin asumir causalidad física directa ni relaciones de causa-efecto.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Espacial de Grano Fino (Bottom-Up)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1064240" cy="4572000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1400" b="1">
                <a:latin typeface="Arial"/>
              </a:rPr>
              <a:t>Resolución Espacial</a:t>
            </a:r>
            <a:r>
              <a:rPr sz="1400" b="0">
                <a:latin typeface="Arial"/>
              </a:rPr>
              <a:t>: 181,746 celdas físicas de 30 metros como unidad analítica básica de observación.</a:t>
            </a:r>
          </a:p>
          <a:p>
            <a:pPr>
              <a:spcAft>
                <a:spcPts val="1400"/>
              </a:spcAft>
            </a:pPr>
            <a:r>
              <a:rPr sz="1400" b="1">
                <a:latin typeface="Arial"/>
              </a:rPr>
              <a:t>Escala Multiescala</a:t>
            </a:r>
            <a:r>
              <a:rPr sz="1400" b="0">
                <a:latin typeface="Arial"/>
              </a:rPr>
              <a:t>: Buffers circulares en radios de 100m, 250m, 500m y 1000m para capturar dinámicas vecinales.</a:t>
            </a:r>
          </a:p>
          <a:p>
            <a:pPr>
              <a:spcAft>
                <a:spcPts val="1400"/>
              </a:spcAft>
            </a:pPr>
            <a:r>
              <a:rPr sz="1400" b="1">
                <a:latin typeface="Arial"/>
              </a:rPr>
              <a:t>Asociación</a:t>
            </a:r>
            <a:r>
              <a:rPr sz="1400" b="0">
                <a:latin typeface="Arial"/>
              </a:rPr>
              <a:t>: Coeficiente de correlación de rangos de Spearman (</a:t>
            </a:r>
            <a:r>
              <a:rPr sz="1400" b="1">
                <a:latin typeface="Arial"/>
              </a:rPr>
              <a:t>r</a:t>
            </a:r>
            <a:r>
              <a:rPr sz="1400" b="0">
                <a:latin typeface="Arial"/>
              </a:rPr>
              <a:t>) bivariado.</a:t>
            </a:r>
          </a:p>
          <a:p>
            <a:pPr>
              <a:spcAft>
                <a:spcPts val="1400"/>
              </a:spcAft>
            </a:pPr>
            <a:r>
              <a:rPr sz="1400" b="1">
                <a:latin typeface="Arial"/>
              </a:rPr>
              <a:t>Filtro de Robustez</a:t>
            </a:r>
            <a:r>
              <a:rPr sz="1400" b="0">
                <a:latin typeface="Arial"/>
              </a:rPr>
              <a:t>: Exclusión de muestras pequeñas mediante umbrales estrictos de celdas por segmento (N ≥ 50 global, N ≥ 30 por densidad).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Vegetación en Baja Densidad: Máximo Enfriamiento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5303520" cy="457200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1400" b="1">
                <a:latin typeface="Arial"/>
              </a:rPr>
              <a:t>Asociación Negativa Intensa</a:t>
            </a:r>
            <a:r>
              <a:rPr sz="1400" b="0">
                <a:latin typeface="Arial"/>
              </a:rPr>
              <a:t>: La vegetación en entornos con baja densidad construida (&lt; 20%) muestra las correlaciones de enfriamiento más fuertes con la temperatura superficial.</a:t>
            </a:r>
          </a:p>
          <a:p>
            <a:pPr>
              <a:spcAft>
                <a:spcPts val="1000"/>
              </a:spcAft>
            </a:pPr>
            <a:r>
              <a:rPr sz="1400" b="1">
                <a:latin typeface="Arial"/>
              </a:rPr>
              <a:t>San Pedro (Baja)</a:t>
            </a:r>
            <a:r>
              <a:rPr sz="1400" b="0">
                <a:latin typeface="Arial"/>
              </a:rPr>
              <a:t>: Máxima asociación observada de </a:t>
            </a:r>
            <a:r>
              <a:rPr sz="1400" b="1">
                <a:latin typeface="Arial"/>
              </a:rPr>
              <a:t>r = -0.811</a:t>
            </a:r>
            <a:r>
              <a:rPr sz="1400" b="0">
                <a:latin typeface="Arial"/>
              </a:rPr>
              <a:t> a escala local de 100m.</a:t>
            </a:r>
          </a:p>
          <a:p>
            <a:pPr>
              <a:spcAft>
                <a:spcPts val="1000"/>
              </a:spcAft>
            </a:pPr>
            <a:r>
              <a:rPr sz="1400" b="1">
                <a:latin typeface="Arial"/>
              </a:rPr>
              <a:t>Escala de Vecindario</a:t>
            </a:r>
            <a:r>
              <a:rPr sz="1400" b="0">
                <a:latin typeface="Arial"/>
              </a:rPr>
              <a:t>: En Guadalupe y San Nicolás, el enfriamiento óptimo se desplaza a escalas de vecindario (500m–1000m).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0" y="1645920"/>
          <a:ext cx="5577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834"/>
                <a:gridCol w="796834"/>
                <a:gridCol w="796834"/>
                <a:gridCol w="796834"/>
                <a:gridCol w="796834"/>
                <a:gridCol w="796834"/>
                <a:gridCol w="796836"/>
              </a:tblGrid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Municipio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Celdas (N)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Local 30m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100m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250m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500m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1000m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San Pedro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1,723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Guadalupe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1,510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-0.278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-0.567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-0.645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-0.644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-0.676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San Nicolás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Monterrey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3,129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-0.489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-0.609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-0.611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-0.522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-0.140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Escala Óptima de la Vegetación según Densidad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5303520" cy="457200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1400" b="1">
                <a:latin typeface="Arial"/>
              </a:rPr>
              <a:t>Sensibilidad de Escala</a:t>
            </a:r>
            <a:r>
              <a:rPr sz="1400" b="0">
                <a:latin typeface="Arial"/>
              </a:rPr>
              <a:t>: La escala de máxima asociación no es la local (30m), sino las escalas de vecindario (100m a 1000m).</a:t>
            </a:r>
          </a:p>
          <a:p>
            <a:pPr>
              <a:spcAft>
                <a:spcPts val="1000"/>
              </a:spcAft>
            </a:pPr>
            <a:r>
              <a:rPr sz="1400" b="1">
                <a:latin typeface="Arial"/>
              </a:rPr>
              <a:t>Baja Densidad</a:t>
            </a:r>
            <a:r>
              <a:rPr sz="1400" b="0">
                <a:latin typeface="Arial"/>
              </a:rPr>
              <a:t>: El radio de 250m–1000m obtiene la mayor correlación de enfriamiento.</a:t>
            </a:r>
          </a:p>
          <a:p>
            <a:pPr>
              <a:spcAft>
                <a:spcPts val="1000"/>
              </a:spcAft>
            </a:pPr>
            <a:r>
              <a:rPr sz="1400" b="1">
                <a:latin typeface="Arial"/>
              </a:rPr>
              <a:t>Media Densidad</a:t>
            </a:r>
            <a:r>
              <a:rPr sz="1400" b="0">
                <a:latin typeface="Arial"/>
              </a:rPr>
              <a:t>: Se observa un desplazamiento a escalas más cercanas (100m–250m) para retener relevancia térmica.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0" y="1645920"/>
          <a:ext cx="5577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/>
                <a:gridCol w="1394460"/>
                <a:gridCol w="1394460"/>
                <a:gridCol w="1394460"/>
              </a:tblGrid>
              <a:tr h="45720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Municipio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Densidad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Local (30m)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Máxima Asociación (Escala)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San Pedro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Baja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-0.811</a:t>
                      </a:r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 (100m)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San Pedro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Media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-0.319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-0.374</a:t>
                      </a:r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 (100m)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Guadalupe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Baja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-0.676</a:t>
                      </a:r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 (1000m)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Guadalupe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Media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-0.150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-0.255</a:t>
                      </a:r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 (250m)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San Nicolás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Baja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-0.674</a:t>
                      </a:r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 (500m)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San Nicolás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Media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-0.091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-0.138</a:t>
                      </a:r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 (250m)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Baja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-0.611</a:t>
                      </a:r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 (250m)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Monterrey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Media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-0.133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-0.179</a:t>
                      </a:r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 (100m)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 y Presión Térmica de Calentamiento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5303520" cy="457200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1400" b="1">
                <a:latin typeface="Arial"/>
              </a:rPr>
              <a:t>Asociación Positiva Significativa</a:t>
            </a:r>
            <a:r>
              <a:rPr sz="1400" b="0">
                <a:latin typeface="Arial"/>
              </a:rPr>
              <a:t>: La presencia industrial se asocia directamente con temperaturas superficiales más elevadas.</a:t>
            </a:r>
          </a:p>
          <a:p>
            <a:pPr>
              <a:spcAft>
                <a:spcPts val="800"/>
              </a:spcAft>
            </a:pPr>
            <a:r>
              <a:rPr sz="1400" b="1">
                <a:latin typeface="Arial"/>
              </a:rPr>
              <a:t>San Nicolás</a:t>
            </a:r>
            <a:r>
              <a:rPr sz="1400" b="0">
                <a:latin typeface="Arial"/>
              </a:rPr>
              <a:t>: Fuerte presión térmica en todos los segmentos (hasta </a:t>
            </a:r>
            <a:r>
              <a:rPr sz="1400" b="1">
                <a:latin typeface="Arial"/>
              </a:rPr>
              <a:t>r = +0.643</a:t>
            </a:r>
            <a:r>
              <a:rPr sz="1400" b="0">
                <a:latin typeface="Arial"/>
              </a:rPr>
              <a:t> en baja densidad).</a:t>
            </a:r>
          </a:p>
          <a:p>
            <a:pPr>
              <a:spcAft>
                <a:spcPts val="800"/>
              </a:spcAft>
            </a:pPr>
            <a:r>
              <a:rPr sz="1400" b="1">
                <a:latin typeface="Arial"/>
              </a:rPr>
              <a:t>Desbordamiento Térmico (Spillover)</a:t>
            </a:r>
            <a:r>
              <a:rPr sz="1400" b="0">
                <a:latin typeface="Arial"/>
              </a:rPr>
              <a:t>: En San Pedro Baja, se observa correlación de </a:t>
            </a:r>
            <a:r>
              <a:rPr sz="1400" b="1">
                <a:latin typeface="Arial"/>
              </a:rPr>
              <a:t>r = +0.579</a:t>
            </a:r>
            <a:r>
              <a:rPr sz="1400" b="0">
                <a:latin typeface="Arial"/>
              </a:rPr>
              <a:t> a 1000m, sugiriendo influencia de corredores industriales colindantes en Santa Catarina.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0" y="1645920"/>
          <a:ext cx="5577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640"/>
                <a:gridCol w="929640"/>
                <a:gridCol w="929640"/>
                <a:gridCol w="929640"/>
                <a:gridCol w="929640"/>
                <a:gridCol w="929640"/>
              </a:tblGrid>
              <a:tr h="587828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Municipio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Densidad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Local 30m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250m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500m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1000m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87828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San Nicolás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Baja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+0.573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+0.624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+0.630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+0.643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San Nicolás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Alta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+0.411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+0.500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+0.505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+0.469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87828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Baja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+0.379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+0.540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+0.596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Monterrey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Media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+0.253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+0.361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+0.374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+0.304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87828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San Pedro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Baja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N/D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+0.079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+0.260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+0.579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Guadalupe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Baja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N/D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+0.093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+0.205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+0.256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Asociación Térmica Limitada en Alta Densidad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5303520" cy="457200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1400" b="1">
                <a:latin typeface="Arial"/>
              </a:rPr>
              <a:t>Saturación Construida</a:t>
            </a:r>
            <a:r>
              <a:rPr sz="1400" b="0">
                <a:latin typeface="Arial"/>
              </a:rPr>
              <a:t>: En zonas con densidad construida \ge 60\%, la correlación de la vegetación local con el enfriamiento disminuye a valores cercanos a cero.</a:t>
            </a:r>
          </a:p>
          <a:p>
            <a:pPr>
              <a:spcAft>
                <a:spcPts val="1000"/>
              </a:spcAft>
            </a:pPr>
            <a:r>
              <a:rPr sz="1400" b="1">
                <a:latin typeface="Arial"/>
              </a:rPr>
              <a:t>Pérdida de Asociación</a:t>
            </a:r>
            <a:r>
              <a:rPr sz="1400" b="0">
                <a:latin typeface="Arial"/>
              </a:rPr>
              <a:t>: En alta densidad la vegetación aislada muestra una asociación estadística no significativa con el enfriamiento superficial local.</a:t>
            </a:r>
          </a:p>
          <a:p>
            <a:pPr>
              <a:spcAft>
                <a:spcPts val="1000"/>
              </a:spcAft>
            </a:pPr>
            <a:r>
              <a:rPr sz="1400" b="1">
                <a:latin typeface="Arial"/>
              </a:rPr>
              <a:t>Estrategia</a:t>
            </a:r>
            <a:r>
              <a:rPr sz="1400" b="0">
                <a:latin typeface="Arial"/>
              </a:rPr>
              <a:t>: Se requiere mitigación pasiva (modificación de la materialidad urbana) en áreas consolidadas.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0" y="1645920"/>
          <a:ext cx="5577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/>
                <a:gridCol w="1394460"/>
                <a:gridCol w="1394460"/>
                <a:gridCol w="1394460"/>
              </a:tblGrid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Municipio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 en Baja (&lt;20%)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 en Alta (&gt;=60%)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Variación de 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San Pedro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-0.781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Arial"/>
                        </a:rPr>
                        <a:t>+0.665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San Nicolás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-0.536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-0.083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+0.453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+0.463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Guadalupe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-0.278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-0.042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 lIns="36576" rIns="36576" tIns="36576" bIns="36576"/>
                    <a:lstStyle/>
                    <a:p>
                      <a:pPr algn="ctr"/>
                      <a:r>
                        <a:rPr sz="1100" b="0">
                          <a:latin typeface="Arial"/>
                        </a:rPr>
                        <a:t>+0.236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Implicaciones de Política Pública y Siguientes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1064240" cy="457200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1400" b="1">
                <a:latin typeface="Arial"/>
              </a:rPr>
              <a:t>Amortiguamiento Industrial</a:t>
            </a:r>
            <a:r>
              <a:rPr sz="1400" b="0">
                <a:latin typeface="Arial"/>
              </a:rPr>
              <a:t>: Implementar buffers verdes de 250m a 500m adyacentes a zonas industriales (San Nicolás y Monterrey) para mitigar la presión térmica.</a:t>
            </a:r>
          </a:p>
          <a:p>
            <a:pPr>
              <a:spcAft>
                <a:spcPts val="1000"/>
              </a:spcAft>
            </a:pPr>
            <a:r>
              <a:rPr sz="1400" b="1">
                <a:latin typeface="Arial"/>
              </a:rPr>
              <a:t>Coordinación Metropolitana</a:t>
            </a:r>
            <a:r>
              <a:rPr sz="1400" b="0">
                <a:latin typeface="Arial"/>
              </a:rPr>
              <a:t>: Abordar el fenómeno de colindancia o desbordamiento espacial (*spatial spillover*) identificado en San Pedro (inercia proveniente de Santa Catarina).</a:t>
            </a:r>
          </a:p>
          <a:p>
            <a:pPr>
              <a:spcAft>
                <a:spcPts val="1000"/>
              </a:spcAft>
            </a:pPr>
            <a:r>
              <a:rPr sz="1400" b="1">
                <a:latin typeface="Arial"/>
              </a:rPr>
              <a:t>Mitigación Pasiva</a:t>
            </a:r>
            <a:r>
              <a:rPr sz="1400" b="0">
                <a:latin typeface="Arial"/>
              </a:rPr>
              <a:t>: Priorizar la modificación de materialidad urbana (techos fríos con alto albedo, pavimentos permeables) en áreas de alta densidad.</a:t>
            </a:r>
          </a:p>
          <a:p>
            <a:pPr>
              <a:spcAft>
                <a:spcPts val="1000"/>
              </a:spcAft>
            </a:pPr>
            <a:r>
              <a:rPr sz="1400" b="1">
                <a:latin typeface="Arial"/>
              </a:rPr>
              <a:t>Planificación Barrial</a:t>
            </a:r>
            <a:r>
              <a:rPr sz="1400" b="0">
                <a:latin typeface="Arial"/>
              </a:rPr>
              <a:t>: Diseñar redes de parques barriales interconectados con radios de influencia óptimos de 250m a 500m.</a:t>
            </a:r>
          </a:p>
          <a:p>
            <a:pPr>
              <a:spcAft>
                <a:spcPts val="1000"/>
              </a:spcAft>
            </a:pPr>
            <a:r>
              <a:rPr sz="1400" b="1">
                <a:latin typeface="Arial"/>
              </a:rPr>
              <a:t>Siguientes Pasos</a:t>
            </a:r>
            <a:r>
              <a:rPr sz="1400" b="0">
                <a:latin typeface="Arial"/>
              </a:rPr>
              <a:t>: Cruzar los patrones de asociación bivariada con la delimitación física de zonas críticas de calor (hotspots) para la priorización territorial.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1348</Words>
  <Application>Microsoft Office PowerPoint</Application>
  <PresentationFormat>Widescreen</PresentationFormat>
  <Paragraphs>294</Paragraphs>
  <Slides>19</Slides>
  <Notes>16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Courier New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Eydan Vladimir Peña Ulloa</dc:creator>
  <cp:lastModifiedBy>Eydan Vladimir Peña Ulloa</cp:lastModifiedBy>
  <cp:revision>1</cp:revision>
  <dcterms:created xsi:type="dcterms:W3CDTF">2026-02-20T22:31:37Z</dcterms:created>
  <dcterms:modified xsi:type="dcterms:W3CDTF">2026-06-11T23:41:35Z</dcterms:modified>
</cp:coreProperties>
</file>